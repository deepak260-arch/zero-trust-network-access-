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jpg" ContentType="image/jp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2004" y="3764788"/>
            <a:ext cx="5942330" cy="1836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804920" y="9287967"/>
            <a:ext cx="165735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testphp.vulnweb.com/" TargetMode="Externa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/>
              <a:t>Implement</a:t>
            </a:r>
            <a:r>
              <a:rPr dirty="0" spc="-5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 spc="-10"/>
              <a:t>manage </a:t>
            </a:r>
            <a:r>
              <a:rPr dirty="0"/>
              <a:t>Zero</a:t>
            </a:r>
            <a:r>
              <a:rPr dirty="0" spc="-10"/>
              <a:t> </a:t>
            </a:r>
            <a:r>
              <a:rPr dirty="0"/>
              <a:t>Trust</a:t>
            </a:r>
            <a:r>
              <a:rPr dirty="0" spc="-5"/>
              <a:t> </a:t>
            </a:r>
            <a:r>
              <a:rPr dirty="0"/>
              <a:t>Network</a:t>
            </a:r>
            <a:r>
              <a:rPr dirty="0" spc="10"/>
              <a:t> </a:t>
            </a:r>
            <a:r>
              <a:rPr dirty="0" spc="-10"/>
              <a:t>Access </a:t>
            </a:r>
            <a:r>
              <a:rPr dirty="0"/>
              <a:t>(ZTNA)</a:t>
            </a:r>
            <a:r>
              <a:rPr dirty="0" spc="-85"/>
              <a:t> </a:t>
            </a:r>
            <a:r>
              <a:rPr dirty="0"/>
              <a:t>using</a:t>
            </a:r>
            <a:r>
              <a:rPr dirty="0" spc="-95"/>
              <a:t> </a:t>
            </a:r>
            <a:r>
              <a:rPr dirty="0" spc="-10"/>
              <a:t>Zscaler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1615566"/>
            <a:ext cx="5644515" cy="52197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b="1">
                <a:latin typeface="Arial"/>
                <a:cs typeface="Arial"/>
              </a:rPr>
              <a:t>Project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Title:</a:t>
            </a:r>
            <a:endParaRPr sz="1600">
              <a:latin typeface="Arial"/>
              <a:cs typeface="Arial"/>
            </a:endParaRPr>
          </a:p>
          <a:p>
            <a:pPr marL="469900" marR="5080">
              <a:lnSpc>
                <a:spcPct val="110000"/>
              </a:lnSpc>
              <a:spcBef>
                <a:spcPts val="1065"/>
              </a:spcBef>
            </a:pPr>
            <a:r>
              <a:rPr dirty="0" sz="1400">
                <a:latin typeface="Arial MT"/>
                <a:cs typeface="Arial MT"/>
              </a:rPr>
              <a:t>Implement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Manage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Zero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Trust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Network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Access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(ZTNA)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using Zscaler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Program: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Naan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Mudhalvan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400" b="1">
                <a:latin typeface="Arial"/>
                <a:cs typeface="Arial"/>
              </a:rPr>
              <a:t>Course</a:t>
            </a:r>
            <a:r>
              <a:rPr dirty="0" sz="1400">
                <a:latin typeface="Arial MT"/>
                <a:cs typeface="Arial MT"/>
              </a:rPr>
              <a:t>: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Cyber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security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Arial"/>
                <a:cs typeface="Arial"/>
              </a:rPr>
              <a:t>Team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Members:</a:t>
            </a:r>
            <a:endParaRPr sz="1400">
              <a:latin typeface="Arial"/>
              <a:cs typeface="Arial"/>
            </a:endParaRPr>
          </a:p>
          <a:p>
            <a:pPr marL="12700" marR="2134870">
              <a:lnSpc>
                <a:spcPct val="169300"/>
              </a:lnSpc>
              <a:spcBef>
                <a:spcPts val="10"/>
              </a:spcBef>
            </a:pPr>
            <a:r>
              <a:rPr dirty="0" sz="1400" b="1">
                <a:latin typeface="Arial"/>
                <a:cs typeface="Arial"/>
              </a:rPr>
              <a:t>Member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1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–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B.Bavatharani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&amp;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10">
                <a:latin typeface="Arial MT"/>
                <a:cs typeface="Arial MT"/>
              </a:rPr>
              <a:t>2328A0021 </a:t>
            </a:r>
            <a:r>
              <a:rPr dirty="0" sz="1400" b="1">
                <a:latin typeface="Arial"/>
                <a:cs typeface="Arial"/>
              </a:rPr>
              <a:t>Member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2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–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P.K.Deepak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&amp;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10">
                <a:latin typeface="Arial MT"/>
                <a:cs typeface="Arial MT"/>
              </a:rPr>
              <a:t>2328A0022 </a:t>
            </a:r>
            <a:r>
              <a:rPr dirty="0" sz="1400" b="1">
                <a:latin typeface="Arial"/>
                <a:cs typeface="Arial"/>
              </a:rPr>
              <a:t>Member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3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–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S.Mouleeswaran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&amp;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10">
                <a:latin typeface="Arial MT"/>
                <a:cs typeface="Arial MT"/>
              </a:rPr>
              <a:t>2328A0024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Institution: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Cheran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Arts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Science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College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400" b="1">
                <a:latin typeface="Arial"/>
                <a:cs typeface="Arial"/>
              </a:rPr>
              <a:t>Guide: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>
                <a:latin typeface="Arial MT"/>
                <a:cs typeface="Arial MT"/>
              </a:rPr>
              <a:t>Mrs.M.Jeevitha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400" b="1">
                <a:latin typeface="Arial"/>
                <a:cs typeface="Arial"/>
              </a:rPr>
              <a:t>Date: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10">
                <a:latin typeface="Arial MT"/>
                <a:cs typeface="Arial MT"/>
              </a:rPr>
              <a:t>08/03/2026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0732" y="1972182"/>
            <a:ext cx="6224905" cy="6243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 b="1">
                <a:latin typeface="Times New Roman"/>
                <a:cs typeface="Times New Roman"/>
              </a:rPr>
              <a:t>Abstract: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 marR="26670">
              <a:lnSpc>
                <a:spcPct val="110300"/>
              </a:lnSpc>
            </a:pP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today’s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digital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era,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increasing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cybersecurity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due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remote </a:t>
            </a:r>
            <a:r>
              <a:rPr dirty="0" sz="1400">
                <a:latin typeface="Times New Roman"/>
                <a:cs typeface="Times New Roman"/>
              </a:rPr>
              <a:t>work,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cloud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advanced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techniques.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Traditional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perimeter-</a:t>
            </a:r>
            <a:r>
              <a:rPr dirty="0" sz="1400" spc="-10">
                <a:latin typeface="Times New Roman"/>
                <a:cs typeface="Times New Roman"/>
              </a:rPr>
              <a:t>based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models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longer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sufficient,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often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assume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inside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trusted.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 focuses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implementing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 managing</a:t>
            </a:r>
            <a:r>
              <a:rPr dirty="0" sz="1400" spc="-20">
                <a:latin typeface="Times New Roman"/>
                <a:cs typeface="Times New Roman"/>
              </a:rPr>
              <a:t> Zero</a:t>
            </a:r>
            <a:r>
              <a:rPr dirty="0" sz="1400" spc="5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(ZTNA)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enforces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principle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“Never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Always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Verify.”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234950">
              <a:lnSpc>
                <a:spcPct val="110200"/>
              </a:lnSpc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divided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stages.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Stage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conducted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 </a:t>
            </a:r>
            <a:r>
              <a:rPr dirty="0" sz="1400">
                <a:latin typeface="Times New Roman"/>
                <a:cs typeface="Times New Roman"/>
              </a:rPr>
              <a:t>testing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vulnerabilities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misconfigurations,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outdated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software,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 spc="-10">
                <a:latin typeface="Times New Roman"/>
                <a:cs typeface="Times New Roman"/>
              </a:rPr>
              <a:t>insecure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endpoints.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Stage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involved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Nessus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vulnerability assessments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safe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target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environment,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risks,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propose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remediation </a:t>
            </a:r>
            <a:r>
              <a:rPr dirty="0" sz="1400">
                <a:latin typeface="Times New Roman"/>
                <a:cs typeface="Times New Roman"/>
              </a:rPr>
              <a:t>strategies.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Stage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3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explored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deployment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Operations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Center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(SOC) </a:t>
            </a:r>
            <a:r>
              <a:rPr dirty="0" sz="1400">
                <a:latin typeface="Times New Roman"/>
                <a:cs typeface="Times New Roman"/>
              </a:rPr>
              <a:t>integrated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IBM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QRadar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intelligence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platforms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like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MISP, </a:t>
            </a:r>
            <a:r>
              <a:rPr dirty="0" sz="1400">
                <a:latin typeface="Times New Roman"/>
                <a:cs typeface="Times New Roman"/>
              </a:rPr>
              <a:t>demonstrating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real-</a:t>
            </a:r>
            <a:r>
              <a:rPr dirty="0" sz="1400">
                <a:latin typeface="Times New Roman"/>
                <a:cs typeface="Times New Roman"/>
              </a:rPr>
              <a:t>time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incident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response,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enforcement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Zero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policies.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0400"/>
              </a:lnSpc>
            </a:pPr>
            <a:r>
              <a:rPr dirty="0" sz="1400">
                <a:latin typeface="Times New Roman"/>
                <a:cs typeface="Times New Roman"/>
              </a:rPr>
              <a:t>Through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gained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practical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insights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vulnerability management,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proactive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while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learning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ZTNA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SOC/SEIM </a:t>
            </a:r>
            <a:r>
              <a:rPr dirty="0" sz="1400">
                <a:latin typeface="Times New Roman"/>
                <a:cs typeface="Times New Roman"/>
              </a:rPr>
              <a:t>solutions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work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together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enterprise</a:t>
            </a:r>
            <a:r>
              <a:rPr dirty="0" sz="1400" spc="-10">
                <a:latin typeface="Times New Roman"/>
                <a:cs typeface="Times New Roman"/>
              </a:rPr>
              <a:t> environments.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explores </a:t>
            </a:r>
            <a:r>
              <a:rPr dirty="0" sz="1400">
                <a:latin typeface="Times New Roman"/>
                <a:cs typeface="Times New Roman"/>
              </a:rPr>
              <a:t>future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improvements,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including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AI-</a:t>
            </a:r>
            <a:r>
              <a:rPr dirty="0" sz="1400">
                <a:latin typeface="Times New Roman"/>
                <a:cs typeface="Times New Roman"/>
              </a:rPr>
              <a:t>driven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detection,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automated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remediation,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broader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integration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principles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across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cloud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hybrid</a:t>
            </a:r>
            <a:r>
              <a:rPr dirty="0" sz="1400" spc="-10">
                <a:latin typeface="Times New Roman"/>
                <a:cs typeface="Times New Roman"/>
              </a:rPr>
              <a:t> networks.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0732" y="864158"/>
            <a:ext cx="6238875" cy="729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work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emphasizes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importance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continuous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monitoring, </a:t>
            </a:r>
            <a:r>
              <a:rPr dirty="0" sz="1400" spc="-20">
                <a:latin typeface="Times New Roman"/>
                <a:cs typeface="Times New Roman"/>
              </a:rPr>
              <a:t>risk </a:t>
            </a:r>
            <a:r>
              <a:rPr dirty="0" sz="1400" spc="-10">
                <a:latin typeface="Times New Roman"/>
                <a:cs typeface="Times New Roman"/>
              </a:rPr>
              <a:t>assessment,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controlled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providing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strong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foundation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protecting</a:t>
            </a:r>
            <a:r>
              <a:rPr dirty="0" sz="1400" spc="-10">
                <a:latin typeface="Times New Roman"/>
                <a:cs typeface="Times New Roman"/>
              </a:rPr>
              <a:t> modern organizational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30732" y="2444877"/>
            <a:ext cx="6237605" cy="666178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b="1">
                <a:latin typeface="Times New Roman"/>
                <a:cs typeface="Times New Roman"/>
              </a:rPr>
              <a:t>Use</a:t>
            </a:r>
            <a:r>
              <a:rPr dirty="0" sz="1600" spc="-2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Case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Scenarios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–</a:t>
            </a:r>
            <a:r>
              <a:rPr dirty="0" sz="1600" spc="-1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ZTNA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Using</a:t>
            </a:r>
            <a:r>
              <a:rPr dirty="0" sz="1600" spc="-6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Zscaler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1600">
              <a:latin typeface="Times New Roman"/>
              <a:cs typeface="Times New Roman"/>
            </a:endParaRPr>
          </a:p>
          <a:p>
            <a:pPr algn="just" marL="12700" marR="1569720">
              <a:lnSpc>
                <a:spcPct val="170200"/>
              </a:lnSpc>
            </a:pPr>
            <a:r>
              <a:rPr dirty="0" sz="1400" b="1">
                <a:latin typeface="Times New Roman"/>
                <a:cs typeface="Times New Roman"/>
              </a:rPr>
              <a:t>Scenario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1: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Secure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Remote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for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Faculty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to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ERP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System Description:</a:t>
            </a:r>
            <a:endParaRPr sz="1400">
              <a:latin typeface="Times New Roman"/>
              <a:cs typeface="Times New Roman"/>
            </a:endParaRPr>
          </a:p>
          <a:p>
            <a:pPr algn="just" marL="741045" marR="5080">
              <a:lnSpc>
                <a:spcPct val="11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Faculty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working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remotely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need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college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ERP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upload </a:t>
            </a:r>
            <a:r>
              <a:rPr dirty="0" sz="1400">
                <a:latin typeface="Times New Roman"/>
                <a:cs typeface="Times New Roman"/>
              </a:rPr>
              <a:t>student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grades.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(ZPA),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faculty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member </a:t>
            </a:r>
            <a:r>
              <a:rPr dirty="0" sz="1400">
                <a:latin typeface="Times New Roman"/>
                <a:cs typeface="Times New Roman"/>
              </a:rPr>
              <a:t>connects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securely</a:t>
            </a:r>
            <a:r>
              <a:rPr dirty="0" sz="1400" spc="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without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joining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internal</a:t>
            </a:r>
            <a:r>
              <a:rPr dirty="0" sz="1400" spc="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network.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verifies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their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via</a:t>
            </a:r>
            <a:r>
              <a:rPr dirty="0" sz="1400" spc="3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Azure</a:t>
            </a:r>
            <a:r>
              <a:rPr dirty="0" sz="1400" spc="3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</a:t>
            </a:r>
            <a:r>
              <a:rPr dirty="0" sz="1400" spc="2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MFA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checks</a:t>
            </a:r>
            <a:r>
              <a:rPr dirty="0" sz="1400" spc="3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posture</a:t>
            </a:r>
            <a:r>
              <a:rPr dirty="0" sz="1400" spc="2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before</a:t>
            </a:r>
            <a:r>
              <a:rPr dirty="0" sz="1400" spc="3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granting access.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spc="-10" b="1">
                <a:latin typeface="Times New Roman"/>
                <a:cs typeface="Times New Roman"/>
              </a:rPr>
              <a:t>Output: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1250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(Faculty_Group)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posture</a:t>
            </a:r>
            <a:r>
              <a:rPr dirty="0" sz="1400" spc="-10">
                <a:latin typeface="Times New Roman"/>
                <a:cs typeface="Times New Roman"/>
              </a:rPr>
              <a:t> compliant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(AV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active,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OS </a:t>
            </a:r>
            <a:r>
              <a:rPr dirty="0" sz="1400" spc="-10">
                <a:latin typeface="Times New Roman"/>
                <a:cs typeface="Times New Roman"/>
              </a:rPr>
              <a:t>up-to-date)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micro-</a:t>
            </a:r>
            <a:r>
              <a:rPr dirty="0" sz="1400">
                <a:latin typeface="Times New Roman"/>
                <a:cs typeface="Times New Roman"/>
              </a:rPr>
              <a:t>tunnel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established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ERP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only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260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Internal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remains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invisible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 marR="170815">
              <a:lnSpc>
                <a:spcPct val="170000"/>
              </a:lnSpc>
            </a:pPr>
            <a:r>
              <a:rPr dirty="0" sz="1400" b="1">
                <a:latin typeface="Times New Roman"/>
                <a:cs typeface="Times New Roman"/>
              </a:rPr>
              <a:t>Scenario</a:t>
            </a:r>
            <a:r>
              <a:rPr dirty="0" sz="1400" spc="-6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2: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Secure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for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Students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to</a:t>
            </a:r>
            <a:r>
              <a:rPr dirty="0" sz="1400" spc="-6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Learning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Management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System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(LMS) Description:</a:t>
            </a:r>
            <a:endParaRPr sz="1400">
              <a:latin typeface="Times New Roman"/>
              <a:cs typeface="Times New Roman"/>
            </a:endParaRPr>
          </a:p>
          <a:p>
            <a:pPr algn="just" marL="741045" marR="5080">
              <a:lnSpc>
                <a:spcPct val="110500"/>
              </a:lnSpc>
              <a:spcBef>
                <a:spcPts val="955"/>
              </a:spcBef>
            </a:pPr>
            <a:r>
              <a:rPr dirty="0" sz="1400">
                <a:latin typeface="Times New Roman"/>
                <a:cs typeface="Times New Roman"/>
              </a:rPr>
              <a:t>Students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accessing</a:t>
            </a:r>
            <a:r>
              <a:rPr dirty="0" sz="1400" spc="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LMS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personal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</a:t>
            </a:r>
            <a:r>
              <a:rPr dirty="0" sz="1400" spc="1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granted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1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8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LMS</a:t>
            </a:r>
            <a:r>
              <a:rPr dirty="0" sz="1400" spc="16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application.</a:t>
            </a:r>
            <a:r>
              <a:rPr dirty="0" sz="1400" spc="18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15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ensures</a:t>
            </a:r>
            <a:r>
              <a:rPr dirty="0" sz="1400" spc="17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7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internal</a:t>
            </a:r>
            <a:r>
              <a:rPr dirty="0" sz="1400" spc="16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16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80">
                <a:latin typeface="Times New Roman"/>
                <a:cs typeface="Times New Roman"/>
              </a:rPr>
              <a:t>  </a:t>
            </a:r>
            <a:r>
              <a:rPr dirty="0" sz="1400" spc="-10">
                <a:latin typeface="Times New Roman"/>
                <a:cs typeface="Times New Roman"/>
              </a:rPr>
              <a:t>other </a:t>
            </a:r>
            <a:r>
              <a:rPr dirty="0" sz="1400">
                <a:latin typeface="Times New Roman"/>
                <a:cs typeface="Times New Roman"/>
              </a:rPr>
              <a:t>applications</a:t>
            </a:r>
            <a:r>
              <a:rPr dirty="0" sz="1400" spc="3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remain</a:t>
            </a:r>
            <a:r>
              <a:rPr dirty="0" sz="1400" spc="3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invisible.</a:t>
            </a:r>
            <a:r>
              <a:rPr dirty="0" sz="1400" spc="3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3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compliance</a:t>
            </a:r>
            <a:r>
              <a:rPr dirty="0" sz="1400" spc="3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3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checked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prevent </a:t>
            </a:r>
            <a:r>
              <a:rPr dirty="0" sz="1400">
                <a:latin typeface="Times New Roman"/>
                <a:cs typeface="Times New Roman"/>
              </a:rPr>
              <a:t>unpatched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infected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9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connecting.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spc="-10" b="1">
                <a:latin typeface="Times New Roman"/>
                <a:cs typeface="Times New Roman"/>
              </a:rPr>
              <a:t>Output: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0732" y="864158"/>
            <a:ext cx="6240780" cy="793750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198245" indent="-228600">
              <a:lnSpc>
                <a:spcPct val="100000"/>
              </a:lnSpc>
              <a:spcBef>
                <a:spcPts val="365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(Student_Group)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posture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compliant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(Patch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level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verified,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AV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active)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micro-</a:t>
            </a:r>
            <a:r>
              <a:rPr dirty="0" sz="1400">
                <a:latin typeface="Times New Roman"/>
                <a:cs typeface="Times New Roman"/>
              </a:rPr>
              <a:t>tunnel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 LMS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only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Other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resources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remain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hidden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algn="just" marL="12700" marR="2373630">
              <a:lnSpc>
                <a:spcPct val="170100"/>
              </a:lnSpc>
            </a:pPr>
            <a:r>
              <a:rPr dirty="0" sz="1400" b="1">
                <a:latin typeface="Times New Roman"/>
                <a:cs typeface="Times New Roman"/>
              </a:rPr>
              <a:t>Scenario</a:t>
            </a:r>
            <a:r>
              <a:rPr dirty="0" sz="1400" spc="-6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3: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Secure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Lab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for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Remote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IT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Staff Description:</a:t>
            </a:r>
            <a:endParaRPr sz="1400">
              <a:latin typeface="Times New Roman"/>
              <a:cs typeface="Times New Roman"/>
            </a:endParaRPr>
          </a:p>
          <a:p>
            <a:pPr algn="just" marL="741045" marR="8255">
              <a:lnSpc>
                <a:spcPct val="11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staff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need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lab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servers</a:t>
            </a:r>
            <a:r>
              <a:rPr dirty="0" sz="1400" spc="1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software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updates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maintenance.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validates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security,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monitors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activity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in </a:t>
            </a:r>
            <a:r>
              <a:rPr dirty="0" sz="1400" spc="-10">
                <a:latin typeface="Times New Roman"/>
                <a:cs typeface="Times New Roman"/>
              </a:rPr>
              <a:t>real-</a:t>
            </a:r>
            <a:r>
              <a:rPr dirty="0" sz="1400">
                <a:latin typeface="Times New Roman"/>
                <a:cs typeface="Times New Roman"/>
              </a:rPr>
              <a:t>time.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restricted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required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lab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only.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spc="-10" b="1">
                <a:latin typeface="Times New Roman"/>
                <a:cs typeface="Times New Roman"/>
              </a:rPr>
              <a:t>Output: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1250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(IT_Admin_Group)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posture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compliant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(Encrypted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disk,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endpoint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active)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 spc="-10">
                <a:latin typeface="Times New Roman"/>
                <a:cs typeface="Times New Roman"/>
              </a:rPr>
              <a:t>Time-</a:t>
            </a:r>
            <a:r>
              <a:rPr dirty="0" sz="1400">
                <a:latin typeface="Times New Roman"/>
                <a:cs typeface="Times New Roman"/>
              </a:rPr>
              <a:t>bound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micro-</a:t>
            </a:r>
            <a:r>
              <a:rPr dirty="0" sz="1400">
                <a:latin typeface="Times New Roman"/>
                <a:cs typeface="Times New Roman"/>
              </a:rPr>
              <a:t>tunnel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 lab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only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285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via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QRadar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anomalies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algn="just" marL="12700" marR="2509520">
              <a:lnSpc>
                <a:spcPct val="170000"/>
              </a:lnSpc>
            </a:pPr>
            <a:r>
              <a:rPr dirty="0" sz="1400" b="1">
                <a:latin typeface="Times New Roman"/>
                <a:cs typeface="Times New Roman"/>
              </a:rPr>
              <a:t>Scenario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4: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Block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Unauthorized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Attempts Description:</a:t>
            </a:r>
            <a:endParaRPr sz="1400">
              <a:latin typeface="Times New Roman"/>
              <a:cs typeface="Times New Roman"/>
            </a:endParaRPr>
          </a:p>
          <a:p>
            <a:pPr algn="just" marL="741045" marR="5080">
              <a:lnSpc>
                <a:spcPct val="110100"/>
              </a:lnSpc>
              <a:spcBef>
                <a:spcPts val="980"/>
              </a:spcBef>
            </a:pP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student</a:t>
            </a:r>
            <a:r>
              <a:rPr dirty="0" sz="1400" spc="2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tries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2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29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faculty-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2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financial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</a:t>
            </a:r>
            <a:r>
              <a:rPr dirty="0" sz="1400" spc="3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2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non- </a:t>
            </a:r>
            <a:r>
              <a:rPr dirty="0" sz="1400">
                <a:latin typeface="Times New Roman"/>
                <a:cs typeface="Times New Roman"/>
              </a:rPr>
              <a:t>compliant</a:t>
            </a:r>
            <a:r>
              <a:rPr dirty="0" sz="1400" spc="4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device.</a:t>
            </a:r>
            <a:r>
              <a:rPr dirty="0" sz="1400" spc="48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4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detects</a:t>
            </a:r>
            <a:r>
              <a:rPr dirty="0" sz="1400" spc="48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75">
                <a:latin typeface="Times New Roman"/>
                <a:cs typeface="Times New Roman"/>
              </a:rPr>
              <a:t>  </a:t>
            </a:r>
            <a:r>
              <a:rPr dirty="0" sz="1400" spc="-10">
                <a:latin typeface="Times New Roman"/>
                <a:cs typeface="Times New Roman"/>
              </a:rPr>
              <a:t>non-</a:t>
            </a:r>
            <a:r>
              <a:rPr dirty="0" sz="1400">
                <a:latin typeface="Times New Roman"/>
                <a:cs typeface="Times New Roman"/>
              </a:rPr>
              <a:t>compliance</a:t>
            </a:r>
            <a:r>
              <a:rPr dirty="0" sz="1400" spc="4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4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blocks</a:t>
            </a:r>
            <a:r>
              <a:rPr dirty="0" sz="1400" spc="484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access.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receives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alert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investigation.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spc="-10" b="1">
                <a:latin typeface="Times New Roman"/>
                <a:cs typeface="Times New Roman"/>
              </a:rPr>
              <a:t>Output: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1250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denied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(Student_Group)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posture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non-</a:t>
            </a:r>
            <a:r>
              <a:rPr dirty="0" sz="1400">
                <a:latin typeface="Times New Roman"/>
                <a:cs typeface="Times New Roman"/>
              </a:rPr>
              <a:t>compliant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(No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AV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outdated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OS)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blocked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entirely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receives real-</a:t>
            </a:r>
            <a:r>
              <a:rPr dirty="0" sz="1400">
                <a:latin typeface="Times New Roman"/>
                <a:cs typeface="Times New Roman"/>
              </a:rPr>
              <a:t>time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alert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260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Internal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remains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protected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0732" y="2337943"/>
            <a:ext cx="6243955" cy="37566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Scenario</a:t>
            </a:r>
            <a:r>
              <a:rPr dirty="0" sz="1400" spc="-6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5: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Temporary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for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External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Auditors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400" spc="-10" b="1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algn="just" marL="741045" marR="5080">
              <a:lnSpc>
                <a:spcPct val="110100"/>
              </a:lnSpc>
              <a:spcBef>
                <a:spcPts val="980"/>
              </a:spcBef>
            </a:pPr>
            <a:r>
              <a:rPr dirty="0" sz="1400">
                <a:latin typeface="Times New Roman"/>
                <a:cs typeface="Times New Roman"/>
              </a:rPr>
              <a:t>External</a:t>
            </a:r>
            <a:r>
              <a:rPr dirty="0" sz="1400" spc="1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auditors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require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temporary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2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college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servers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for </a:t>
            </a:r>
            <a:r>
              <a:rPr dirty="0" sz="1400">
                <a:latin typeface="Times New Roman"/>
                <a:cs typeface="Times New Roman"/>
              </a:rPr>
              <a:t>compliance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auditing.</a:t>
            </a:r>
            <a:r>
              <a:rPr dirty="0" sz="1400" spc="1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ensures</a:t>
            </a:r>
            <a:r>
              <a:rPr dirty="0" sz="1400" spc="1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time-limited,</a:t>
            </a:r>
            <a:r>
              <a:rPr dirty="0" sz="1400" spc="1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application-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posture</a:t>
            </a:r>
            <a:r>
              <a:rPr dirty="0" sz="1400" spc="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validation.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revoked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automatically </a:t>
            </a:r>
            <a:r>
              <a:rPr dirty="0" sz="1400">
                <a:latin typeface="Times New Roman"/>
                <a:cs typeface="Times New Roman"/>
              </a:rPr>
              <a:t>after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audit.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Output: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1250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(External_Auditor_Group)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posture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compliant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(Secure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endpoint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verified)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Temporary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micro-</a:t>
            </a:r>
            <a:r>
              <a:rPr dirty="0" sz="1400">
                <a:latin typeface="Times New Roman"/>
                <a:cs typeface="Times New Roman"/>
              </a:rPr>
              <a:t>tunnel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only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 spc="-10">
                <a:latin typeface="Times New Roman"/>
                <a:cs typeface="Times New Roman"/>
              </a:rPr>
              <a:t>Automatic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revocation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after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audit</a:t>
            </a:r>
            <a:endParaRPr sz="1400">
              <a:latin typeface="Times New Roman"/>
              <a:cs typeface="Times New Roman"/>
            </a:endParaRPr>
          </a:p>
          <a:p>
            <a:pPr marL="1198245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1198245" algn="l"/>
              </a:tabLst>
            </a:pPr>
            <a:r>
              <a:rPr dirty="0" sz="1400">
                <a:latin typeface="Times New Roman"/>
                <a:cs typeface="Times New Roman"/>
              </a:rPr>
              <a:t>Internal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remains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invisible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22172" y="2298318"/>
            <a:ext cx="6121400" cy="6417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0129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STAGE</a:t>
            </a:r>
            <a:r>
              <a:rPr dirty="0" sz="1800" spc="-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-</a:t>
            </a:r>
            <a:r>
              <a:rPr dirty="0" sz="1800" spc="-5" b="1">
                <a:latin typeface="Times New Roman"/>
                <a:cs typeface="Times New Roman"/>
              </a:rPr>
              <a:t> </a:t>
            </a:r>
            <a:r>
              <a:rPr dirty="0" sz="1800" spc="-50" b="1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Title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the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Project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400">
              <a:latin typeface="Times New Roman"/>
              <a:cs typeface="Times New Roman"/>
            </a:endParaRPr>
          </a:p>
          <a:p>
            <a:pPr marL="283845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Implement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(ZTNA)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Zscaler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latin typeface="Times New Roman"/>
                <a:cs typeface="Times New Roman"/>
              </a:rPr>
              <a:t>Overview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400">
              <a:latin typeface="Times New Roman"/>
              <a:cs typeface="Times New Roman"/>
            </a:endParaRPr>
          </a:p>
          <a:p>
            <a:pPr marL="283845" marR="5080">
              <a:lnSpc>
                <a:spcPct val="110500"/>
              </a:lnSpc>
            </a:pP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become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a </a:t>
            </a:r>
            <a:r>
              <a:rPr dirty="0" sz="1400">
                <a:latin typeface="Times New Roman"/>
                <a:cs typeface="Times New Roman"/>
              </a:rPr>
              <a:t>major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challenge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due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increasing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number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remote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cloud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services,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cyber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threats.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Traditional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models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rely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heavily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perimeter-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protection,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inside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automatically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trusted.</a:t>
            </a:r>
            <a:endParaRPr sz="1400">
              <a:latin typeface="Times New Roman"/>
              <a:cs typeface="Times New Roman"/>
            </a:endParaRPr>
          </a:p>
          <a:p>
            <a:pPr marL="283845" marR="298450">
              <a:lnSpc>
                <a:spcPts val="1850"/>
              </a:lnSpc>
              <a:spcBef>
                <a:spcPts val="85"/>
              </a:spcBef>
            </a:pPr>
            <a:r>
              <a:rPr dirty="0" sz="1400">
                <a:latin typeface="Times New Roman"/>
                <a:cs typeface="Times New Roman"/>
              </a:rPr>
              <a:t>However,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longer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effective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protecting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information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cyberattacks.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400">
              <a:latin typeface="Times New Roman"/>
              <a:cs typeface="Times New Roman"/>
            </a:endParaRPr>
          </a:p>
          <a:p>
            <a:pPr marL="283845" marR="277495">
              <a:lnSpc>
                <a:spcPct val="110000"/>
              </a:lnSpc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concept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(ZTNA)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designed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overcome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10">
                <a:latin typeface="Times New Roman"/>
                <a:cs typeface="Times New Roman"/>
              </a:rPr>
              <a:t> limitations.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follows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principle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“Never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Trust,</a:t>
            </a:r>
            <a:endParaRPr sz="1400">
              <a:latin typeface="Times New Roman"/>
              <a:cs typeface="Times New Roman"/>
            </a:endParaRPr>
          </a:p>
          <a:p>
            <a:pPr marL="283845" marR="26034">
              <a:lnSpc>
                <a:spcPts val="1880"/>
              </a:lnSpc>
              <a:spcBef>
                <a:spcPts val="65"/>
              </a:spcBef>
            </a:pPr>
            <a:r>
              <a:rPr dirty="0" sz="1400">
                <a:latin typeface="Times New Roman"/>
                <a:cs typeface="Times New Roman"/>
              </a:rPr>
              <a:t>Always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Verify.”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means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every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must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be </a:t>
            </a:r>
            <a:r>
              <a:rPr dirty="0" sz="1400" spc="-10">
                <a:latin typeface="Times New Roman"/>
                <a:cs typeface="Times New Roman"/>
              </a:rPr>
              <a:t>authenticated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before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resource.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400">
              <a:latin typeface="Times New Roman"/>
              <a:cs typeface="Times New Roman"/>
            </a:endParaRPr>
          </a:p>
          <a:p>
            <a:pPr marL="283845" marR="215900">
              <a:lnSpc>
                <a:spcPct val="110100"/>
              </a:lnSpc>
            </a:pP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aim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leading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cloud-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platform.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provides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secure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without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exposing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 internal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internet.</a:t>
            </a:r>
            <a:endParaRPr sz="1400">
              <a:latin typeface="Times New Roman"/>
              <a:cs typeface="Times New Roman"/>
            </a:endParaRPr>
          </a:p>
          <a:p>
            <a:pPr marL="283845" marR="287655">
              <a:lnSpc>
                <a:spcPct val="110000"/>
              </a:lnSpc>
            </a:pPr>
            <a:r>
              <a:rPr dirty="0" sz="1400">
                <a:latin typeface="Times New Roman"/>
                <a:cs typeface="Times New Roman"/>
              </a:rPr>
              <a:t>Instead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full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like </a:t>
            </a:r>
            <a:r>
              <a:rPr dirty="0" sz="1400" spc="-10">
                <a:latin typeface="Times New Roman"/>
                <a:cs typeface="Times New Roman"/>
              </a:rPr>
              <a:t>traditional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VPN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ZTNA </a:t>
            </a:r>
            <a:r>
              <a:rPr dirty="0" sz="1400">
                <a:latin typeface="Times New Roman"/>
                <a:cs typeface="Times New Roman"/>
              </a:rPr>
              <a:t>allows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connect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 </a:t>
            </a:r>
            <a:r>
              <a:rPr dirty="0" sz="1400">
                <a:latin typeface="Times New Roman"/>
                <a:cs typeface="Times New Roman"/>
              </a:rPr>
              <a:t>they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authorized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 spc="-20">
                <a:latin typeface="Times New Roman"/>
                <a:cs typeface="Times New Roman"/>
              </a:rPr>
              <a:t>use.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0732" y="864158"/>
            <a:ext cx="6211570" cy="4260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5285" marR="5080">
              <a:lnSpc>
                <a:spcPct val="1101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platform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**Zscaler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enforce</a:t>
            </a:r>
            <a:r>
              <a:rPr dirty="0" sz="1400" spc="-10">
                <a:latin typeface="Times New Roman"/>
                <a:cs typeface="Times New Roman"/>
              </a:rPr>
              <a:t> identity-based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verification,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connectivity.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only </a:t>
            </a:r>
            <a:r>
              <a:rPr dirty="0" sz="1400" spc="-10">
                <a:latin typeface="Times New Roman"/>
                <a:cs typeface="Times New Roman"/>
              </a:rPr>
              <a:t>authenticated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hosted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in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centers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cloud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environments.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400">
              <a:latin typeface="Times New Roman"/>
              <a:cs typeface="Times New Roman"/>
            </a:endParaRPr>
          </a:p>
          <a:p>
            <a:pPr marL="375285" marR="69850">
              <a:lnSpc>
                <a:spcPct val="110000"/>
              </a:lnSpc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demonstrates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architecture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by </a:t>
            </a:r>
            <a:r>
              <a:rPr dirty="0" sz="1400">
                <a:latin typeface="Times New Roman"/>
                <a:cs typeface="Times New Roman"/>
              </a:rPr>
              <a:t>minimizing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surfaces,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preventing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unauthorized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protecting sensitive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explains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configured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enforce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policies, </a:t>
            </a:r>
            <a:r>
              <a:rPr dirty="0" sz="1400">
                <a:latin typeface="Times New Roman"/>
                <a:cs typeface="Times New Roman"/>
              </a:rPr>
              <a:t>monitor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activity,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enterprise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implementing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this </a:t>
            </a:r>
            <a:r>
              <a:rPr dirty="0" sz="1400">
                <a:latin typeface="Times New Roman"/>
                <a:cs typeface="Times New Roman"/>
              </a:rPr>
              <a:t>model,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provide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safe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remote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employees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while maintaining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strong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cybersecurity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controls.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400">
              <a:latin typeface="Times New Roman"/>
              <a:cs typeface="Times New Roman"/>
            </a:endParaRPr>
          </a:p>
          <a:p>
            <a:pPr marL="375285" marR="45720">
              <a:lnSpc>
                <a:spcPct val="110000"/>
              </a:lnSpc>
            </a:pPr>
            <a:r>
              <a:rPr dirty="0" sz="1400">
                <a:latin typeface="Times New Roman"/>
                <a:cs typeface="Times New Roman"/>
              </a:rPr>
              <a:t>Overall,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objective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understand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principles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Trust </a:t>
            </a:r>
            <a:r>
              <a:rPr dirty="0" sz="1400">
                <a:latin typeface="Times New Roman"/>
                <a:cs typeface="Times New Roman"/>
              </a:rPr>
              <a:t>security,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explore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features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analyze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ZTNA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enhance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infrastructures.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List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35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Teammates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932992" y="5618988"/>
          <a:ext cx="6076950" cy="1660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2090"/>
                <a:gridCol w="1518920"/>
                <a:gridCol w="1491614"/>
                <a:gridCol w="1503679"/>
              </a:tblGrid>
              <a:tr h="414655"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S.No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5560">
                        <a:lnSpc>
                          <a:spcPts val="1575"/>
                        </a:lnSpc>
                      </a:pP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Name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College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57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Phone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Number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1.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B.Bavatharani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69240">
                        <a:lnSpc>
                          <a:spcPts val="161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Cheran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Arts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dirty="0" sz="14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College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8489340619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2.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P.K.Deepak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69240">
                        <a:lnSpc>
                          <a:spcPts val="161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Cheran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Arts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dirty="0" sz="14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College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6383807948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655">
                <a:tc>
                  <a:txBody>
                    <a:bodyPr/>
                    <a:lstStyle/>
                    <a:p>
                      <a:pPr marL="69850">
                        <a:lnSpc>
                          <a:spcPts val="1580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3.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S.Mouleeswaran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69240">
                        <a:lnSpc>
                          <a:spcPts val="161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Cheran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Arts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dirty="0" sz="14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College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80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8220615168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630732" y="7731379"/>
            <a:ext cx="204978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List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1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Vulnerability</a:t>
            </a:r>
            <a:r>
              <a:rPr dirty="0" sz="140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Table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841552" y="8225916"/>
          <a:ext cx="6168390" cy="831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0730"/>
                <a:gridCol w="2026920"/>
                <a:gridCol w="2026920"/>
              </a:tblGrid>
              <a:tr h="417195"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S.No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Vulnerability</a:t>
                      </a:r>
                      <a:r>
                        <a:rPr dirty="0" sz="140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Name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57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CWE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CVE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No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655"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1.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Broken</a:t>
                      </a:r>
                      <a:r>
                        <a:rPr dirty="0" sz="1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Control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CWE-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284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41552" y="914653"/>
          <a:ext cx="6168390" cy="1245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0730"/>
                <a:gridCol w="2026920"/>
                <a:gridCol w="2026920"/>
              </a:tblGrid>
              <a:tr h="414020"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2.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Sensitive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Exposure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CWE-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200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655"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3.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Security</a:t>
                      </a:r>
                      <a:r>
                        <a:rPr dirty="0" sz="14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Misconfiguration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CWE-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16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4.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899160"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Insufficient Authentication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600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CWE-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287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630732" y="2139822"/>
            <a:ext cx="6236970" cy="547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Times New Roman"/>
                <a:cs typeface="Times New Roman"/>
              </a:rPr>
              <a:t>REPORT: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Times New Roman"/>
              <a:cs typeface="Times New Roman"/>
            </a:endParaRPr>
          </a:p>
          <a:p>
            <a:pPr marL="375285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1) </a:t>
            </a:r>
            <a:r>
              <a:rPr dirty="0" sz="1400" spc="-10" b="1">
                <a:latin typeface="Times New Roman"/>
                <a:cs typeface="Times New Roman"/>
              </a:rPr>
              <a:t>Vulnerability</a:t>
            </a:r>
            <a:r>
              <a:rPr dirty="0" sz="1400" spc="1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Name: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400">
              <a:latin typeface="Times New Roman"/>
              <a:cs typeface="Times New Roman"/>
            </a:endParaRPr>
          </a:p>
          <a:p>
            <a:pPr marL="1198245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Broken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Control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400">
              <a:latin typeface="Times New Roman"/>
              <a:cs typeface="Times New Roman"/>
            </a:endParaRPr>
          </a:p>
          <a:p>
            <a:pPr marL="375285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CWE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/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CVE:</a:t>
            </a:r>
            <a:endParaRPr sz="1400">
              <a:latin typeface="Times New Roman"/>
              <a:cs typeface="Times New Roman"/>
            </a:endParaRPr>
          </a:p>
          <a:p>
            <a:pPr marL="1198245">
              <a:lnSpc>
                <a:spcPct val="100000"/>
              </a:lnSpc>
              <a:spcBef>
                <a:spcPts val="145"/>
              </a:spcBef>
            </a:pPr>
            <a:r>
              <a:rPr dirty="0" sz="1400" spc="-10">
                <a:latin typeface="Times New Roman"/>
                <a:cs typeface="Times New Roman"/>
              </a:rPr>
              <a:t>CWE-</a:t>
            </a:r>
            <a:r>
              <a:rPr dirty="0" sz="1400" spc="-25">
                <a:latin typeface="Times New Roman"/>
                <a:cs typeface="Times New Roman"/>
              </a:rPr>
              <a:t>284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375285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OWASP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/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SANS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Category: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400">
              <a:latin typeface="Times New Roman"/>
              <a:cs typeface="Times New Roman"/>
            </a:endParaRPr>
          </a:p>
          <a:p>
            <a:pPr marL="1198245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Broken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OWASP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Top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10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400">
              <a:latin typeface="Times New Roman"/>
              <a:cs typeface="Times New Roman"/>
            </a:endParaRPr>
          </a:p>
          <a:p>
            <a:pPr marL="375285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algn="just" marL="741045" marR="5080">
              <a:lnSpc>
                <a:spcPts val="1850"/>
              </a:lnSpc>
              <a:spcBef>
                <a:spcPts val="65"/>
              </a:spcBef>
            </a:pPr>
            <a:r>
              <a:rPr dirty="0" sz="1400">
                <a:latin typeface="Times New Roman"/>
                <a:cs typeface="Times New Roman"/>
              </a:rPr>
              <a:t>Broken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occurs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fails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properly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enforce </a:t>
            </a:r>
            <a:r>
              <a:rPr dirty="0" sz="1400">
                <a:latin typeface="Times New Roman"/>
                <a:cs typeface="Times New Roman"/>
              </a:rPr>
              <a:t>restrictions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authenticated users.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exploit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>
                <a:latin typeface="Times New Roman"/>
                <a:cs typeface="Times New Roman"/>
              </a:rPr>
              <a:t>gain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resources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administrative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functions.</a:t>
            </a:r>
            <a:endParaRPr sz="1400">
              <a:latin typeface="Times New Roman"/>
              <a:cs typeface="Times New Roman"/>
            </a:endParaRPr>
          </a:p>
          <a:p>
            <a:pPr algn="just" marL="741045">
              <a:lnSpc>
                <a:spcPct val="100000"/>
              </a:lnSpc>
              <a:spcBef>
                <a:spcPts val="75"/>
              </a:spcBef>
            </a:pP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environments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without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proper</a:t>
            </a:r>
            <a:r>
              <a:rPr dirty="0" sz="1400" spc="1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implementation,</a:t>
            </a:r>
            <a:r>
              <a:rPr dirty="0" sz="1400" spc="1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users</a:t>
            </a:r>
            <a:endParaRPr sz="1400">
              <a:latin typeface="Times New Roman"/>
              <a:cs typeface="Times New Roman"/>
            </a:endParaRPr>
          </a:p>
          <a:p>
            <a:pPr algn="just" marL="741045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gain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broader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required.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400">
              <a:latin typeface="Times New Roman"/>
              <a:cs typeface="Times New Roman"/>
            </a:endParaRPr>
          </a:p>
          <a:p>
            <a:pPr marL="375285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Business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Impact:</a:t>
            </a:r>
            <a:endParaRPr sz="1400">
              <a:latin typeface="Times New Roman"/>
              <a:cs typeface="Times New Roman"/>
            </a:endParaRPr>
          </a:p>
          <a:p>
            <a:pPr algn="just" marL="741045" marR="56515">
              <a:lnSpc>
                <a:spcPts val="1850"/>
              </a:lnSpc>
              <a:spcBef>
                <a:spcPts val="65"/>
              </a:spcBef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confidential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information, </a:t>
            </a:r>
            <a:r>
              <a:rPr dirty="0" sz="1400">
                <a:latin typeface="Times New Roman"/>
                <a:cs typeface="Times New Roman"/>
              </a:rPr>
              <a:t>modify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operations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3444" y="3299764"/>
            <a:ext cx="5873115" cy="425196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1400" b="1">
                <a:latin typeface="Times New Roman"/>
                <a:cs typeface="Times New Roman"/>
              </a:rPr>
              <a:t>2) </a:t>
            </a:r>
            <a:r>
              <a:rPr dirty="0" sz="1400" spc="-10" b="1">
                <a:latin typeface="Times New Roman"/>
                <a:cs typeface="Times New Roman"/>
              </a:rPr>
              <a:t>Vulnerability</a:t>
            </a:r>
            <a:r>
              <a:rPr dirty="0" sz="1400" spc="1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Name</a:t>
            </a:r>
            <a:endParaRPr sz="1400">
              <a:latin typeface="Times New Roman"/>
              <a:cs typeface="Times New Roman"/>
            </a:endParaRPr>
          </a:p>
          <a:p>
            <a:pPr marL="835660">
              <a:lnSpc>
                <a:spcPct val="100000"/>
              </a:lnSpc>
              <a:spcBef>
                <a:spcPts val="150"/>
              </a:spcBef>
            </a:pP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Exposure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CWE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/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CVE:</a:t>
            </a:r>
            <a:endParaRPr sz="1400">
              <a:latin typeface="Times New Roman"/>
              <a:cs typeface="Times New Roman"/>
            </a:endParaRPr>
          </a:p>
          <a:p>
            <a:pPr marL="835660">
              <a:lnSpc>
                <a:spcPct val="100000"/>
              </a:lnSpc>
              <a:spcBef>
                <a:spcPts val="145"/>
              </a:spcBef>
            </a:pPr>
            <a:r>
              <a:rPr dirty="0" sz="1400" spc="-10">
                <a:latin typeface="Times New Roman"/>
                <a:cs typeface="Times New Roman"/>
              </a:rPr>
              <a:t>CWE-</a:t>
            </a:r>
            <a:r>
              <a:rPr dirty="0" sz="1400" spc="-25">
                <a:latin typeface="Times New Roman"/>
                <a:cs typeface="Times New Roman"/>
              </a:rPr>
              <a:t>200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OWASP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/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SANS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Category:</a:t>
            </a:r>
            <a:endParaRPr sz="1400">
              <a:latin typeface="Times New Roman"/>
              <a:cs typeface="Times New Roman"/>
            </a:endParaRPr>
          </a:p>
          <a:p>
            <a:pPr marL="835660">
              <a:lnSpc>
                <a:spcPct val="100000"/>
              </a:lnSpc>
              <a:spcBef>
                <a:spcPts val="145"/>
              </a:spcBef>
            </a:pP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Exposure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OWASP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Top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10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algn="just" marL="378460" marR="5715">
              <a:lnSpc>
                <a:spcPts val="1850"/>
              </a:lnSpc>
              <a:spcBef>
                <a:spcPts val="65"/>
              </a:spcBef>
            </a:pP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4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4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exposure</a:t>
            </a:r>
            <a:r>
              <a:rPr dirty="0" sz="1400" spc="4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occurs</a:t>
            </a:r>
            <a:r>
              <a:rPr dirty="0" sz="1400" spc="4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4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confidential</a:t>
            </a:r>
            <a:r>
              <a:rPr dirty="0" sz="1400" spc="4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4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4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as </a:t>
            </a:r>
            <a:r>
              <a:rPr dirty="0" sz="1400">
                <a:latin typeface="Times New Roman"/>
                <a:cs typeface="Times New Roman"/>
              </a:rPr>
              <a:t>passwords,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personal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data,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financial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properly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protected.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1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intercept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proper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encryption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</a:t>
            </a:r>
            <a:endParaRPr sz="1400">
              <a:latin typeface="Times New Roman"/>
              <a:cs typeface="Times New Roman"/>
            </a:endParaRPr>
          </a:p>
          <a:p>
            <a:pPr algn="just" marL="37846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mechanisms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10">
                <a:latin typeface="Times New Roman"/>
                <a:cs typeface="Times New Roman"/>
              </a:rPr>
              <a:t> implemented.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Business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Impact:</a:t>
            </a:r>
            <a:endParaRPr sz="1400">
              <a:latin typeface="Times New Roman"/>
              <a:cs typeface="Times New Roman"/>
            </a:endParaRPr>
          </a:p>
          <a:p>
            <a:pPr algn="just" marL="378460" marR="5080">
              <a:lnSpc>
                <a:spcPts val="1850"/>
              </a:lnSpc>
              <a:spcBef>
                <a:spcPts val="65"/>
              </a:spcBef>
            </a:pPr>
            <a:r>
              <a:rPr dirty="0" sz="1400">
                <a:latin typeface="Times New Roman"/>
                <a:cs typeface="Times New Roman"/>
              </a:rPr>
              <a:t>Exposure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lead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2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theft,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financial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loss,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legal </a:t>
            </a:r>
            <a:r>
              <a:rPr dirty="0" sz="1400">
                <a:latin typeface="Times New Roman"/>
                <a:cs typeface="Times New Roman"/>
              </a:rPr>
              <a:t>penalties,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damage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organization’s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reputation.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9650" y="914400"/>
            <a:ext cx="2790063" cy="239775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3444" y="4643119"/>
            <a:ext cx="5871845" cy="42348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3) </a:t>
            </a:r>
            <a:r>
              <a:rPr dirty="0" sz="1400" spc="-10" b="1">
                <a:latin typeface="Times New Roman"/>
                <a:cs typeface="Times New Roman"/>
              </a:rPr>
              <a:t>Vulnerability</a:t>
            </a:r>
            <a:r>
              <a:rPr dirty="0" sz="1400" spc="1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Name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400">
              <a:latin typeface="Times New Roman"/>
              <a:cs typeface="Times New Roman"/>
            </a:endParaRPr>
          </a:p>
          <a:p>
            <a:pPr marL="83566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8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Misconfiguration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400" b="1">
                <a:latin typeface="Times New Roman"/>
                <a:cs typeface="Times New Roman"/>
              </a:rPr>
              <a:t>CWE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/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CVE: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400">
              <a:latin typeface="Times New Roman"/>
              <a:cs typeface="Times New Roman"/>
            </a:endParaRPr>
          </a:p>
          <a:p>
            <a:pPr marL="835660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latin typeface="Times New Roman"/>
                <a:cs typeface="Times New Roman"/>
              </a:rPr>
              <a:t>CWE-</a:t>
            </a:r>
            <a:r>
              <a:rPr dirty="0" sz="1400" spc="-25">
                <a:latin typeface="Times New Roman"/>
                <a:cs typeface="Times New Roman"/>
              </a:rPr>
              <a:t>16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OWASP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/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SANS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Category: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400">
              <a:latin typeface="Times New Roman"/>
              <a:cs typeface="Times New Roman"/>
            </a:endParaRPr>
          </a:p>
          <a:p>
            <a:pPr marL="83566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Misconfiguration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OWASP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10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378460" marR="5080">
              <a:lnSpc>
                <a:spcPct val="110100"/>
              </a:lnSpc>
            </a:pP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misconfiguration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occurs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settings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3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properly </a:t>
            </a:r>
            <a:r>
              <a:rPr dirty="0" sz="1400">
                <a:latin typeface="Times New Roman"/>
                <a:cs typeface="Times New Roman"/>
              </a:rPr>
              <a:t>configured,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leaving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vulnerable</a:t>
            </a:r>
            <a:r>
              <a:rPr dirty="0" sz="1400" spc="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attacks.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include</a:t>
            </a:r>
            <a:r>
              <a:rPr dirty="0" sz="1400" spc="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default credentials,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unnecessary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services,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incorrect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policies.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Business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Impact: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0650" y="914400"/>
            <a:ext cx="4524375" cy="301625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9535" y="864158"/>
            <a:ext cx="5507355" cy="495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exploit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misconfigured</a:t>
            </a:r>
            <a:r>
              <a:rPr dirty="0" sz="1400" spc="1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1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1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gain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1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access, </a:t>
            </a:r>
            <a:r>
              <a:rPr dirty="0" sz="1400">
                <a:latin typeface="Times New Roman"/>
                <a:cs typeface="Times New Roman"/>
              </a:rPr>
              <a:t>disrupt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services,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compromise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81578" y="7420482"/>
            <a:ext cx="810260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b="1">
                <a:latin typeface="Times New Roman"/>
                <a:cs typeface="Times New Roman"/>
              </a:rPr>
              <a:t>Stage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60" b="1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8299233"/>
            <a:ext cx="5812155" cy="53276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600" spc="-10" b="1">
                <a:latin typeface="Times New Roman"/>
                <a:cs typeface="Times New Roman"/>
              </a:rPr>
              <a:t>Title:</a:t>
            </a: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80"/>
              </a:spcBef>
            </a:pPr>
            <a:r>
              <a:rPr dirty="0" sz="1400">
                <a:latin typeface="Times New Roman"/>
                <a:cs typeface="Times New Roman"/>
              </a:rPr>
              <a:t>Implement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(ZTNA)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Zscaler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0650" y="1619758"/>
            <a:ext cx="4352544" cy="1357691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1390650" y="3304032"/>
            <a:ext cx="4304665" cy="3875404"/>
            <a:chOff x="1390650" y="3304032"/>
            <a:chExt cx="4304665" cy="3875404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0650" y="3304032"/>
              <a:ext cx="4101059" cy="11729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0650" y="4507992"/>
              <a:ext cx="4304665" cy="2671063"/>
            </a:xfrm>
            <a:prstGeom prst="rect">
              <a:avLst/>
            </a:prstGeom>
          </p:spPr>
        </p:pic>
      </p:grpSp>
      <p:sp>
        <p:nvSpPr>
          <p:cNvPr id="9" name="object 9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9761"/>
            <a:ext cx="5970270" cy="80340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0" b="1">
                <a:latin typeface="Times New Roman"/>
                <a:cs typeface="Times New Roman"/>
              </a:rPr>
              <a:t>Overview: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469900" marR="5715">
              <a:lnSpc>
                <a:spcPct val="110300"/>
              </a:lnSpc>
            </a:pP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8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today’s</a:t>
            </a:r>
            <a:r>
              <a:rPr dirty="0" sz="1400" spc="9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digital</a:t>
            </a:r>
            <a:r>
              <a:rPr dirty="0" sz="1400" spc="8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world,</a:t>
            </a:r>
            <a:r>
              <a:rPr dirty="0" sz="1400" spc="11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9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face</a:t>
            </a:r>
            <a:r>
              <a:rPr dirty="0" sz="1400" spc="9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9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increasing</a:t>
            </a:r>
            <a:r>
              <a:rPr dirty="0" sz="1400" spc="9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number</a:t>
            </a:r>
            <a:r>
              <a:rPr dirty="0" sz="1400" spc="90">
                <a:latin typeface="Times New Roman"/>
                <a:cs typeface="Times New Roman"/>
              </a:rPr>
              <a:t>  </a:t>
            </a:r>
            <a:r>
              <a:rPr dirty="0" sz="1400" spc="-25">
                <a:latin typeface="Times New Roman"/>
                <a:cs typeface="Times New Roman"/>
              </a:rPr>
              <a:t>of </a:t>
            </a:r>
            <a:r>
              <a:rPr dirty="0" sz="1400" spc="-10">
                <a:latin typeface="Times New Roman"/>
                <a:cs typeface="Times New Roman"/>
              </a:rPr>
              <a:t>cybersecurity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threats due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remote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work,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cloud applications,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web-</a:t>
            </a:r>
            <a:r>
              <a:rPr dirty="0" sz="1400" spc="-10">
                <a:latin typeface="Times New Roman"/>
                <a:cs typeface="Times New Roman"/>
              </a:rPr>
              <a:t>based </a:t>
            </a:r>
            <a:r>
              <a:rPr dirty="0" sz="1400">
                <a:latin typeface="Times New Roman"/>
                <a:cs typeface="Times New Roman"/>
              </a:rPr>
              <a:t>services.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Traditional</a:t>
            </a:r>
            <a:r>
              <a:rPr dirty="0" sz="1400" spc="3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3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models,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3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rely</a:t>
            </a:r>
            <a:r>
              <a:rPr dirty="0" sz="1400" spc="3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3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perimeter-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protection,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longer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sufficient.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2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inside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were </a:t>
            </a:r>
            <a:r>
              <a:rPr dirty="0" sz="1400">
                <a:latin typeface="Times New Roman"/>
                <a:cs typeface="Times New Roman"/>
              </a:rPr>
              <a:t>automatically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trusted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old</a:t>
            </a:r>
            <a:r>
              <a:rPr dirty="0" sz="1400" spc="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models,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but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creates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large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</a:t>
            </a:r>
            <a:r>
              <a:rPr dirty="0" sz="1400" spc="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surface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if </a:t>
            </a:r>
            <a:r>
              <a:rPr dirty="0" sz="1400">
                <a:latin typeface="Times New Roman"/>
                <a:cs typeface="Times New Roman"/>
              </a:rPr>
              <a:t>accounts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compromised.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469900" marR="7620">
              <a:lnSpc>
                <a:spcPct val="1103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address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challenges,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(ZTNA).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principle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ZTNA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“Never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Trust,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Always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Verify.” </a:t>
            </a:r>
            <a:r>
              <a:rPr dirty="0" sz="1400">
                <a:latin typeface="Times New Roman"/>
                <a:cs typeface="Times New Roman"/>
              </a:rPr>
              <a:t>Every</a:t>
            </a:r>
            <a:r>
              <a:rPr dirty="0" sz="1400" spc="4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user,</a:t>
            </a:r>
            <a:r>
              <a:rPr dirty="0" sz="1400" spc="4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device,</a:t>
            </a:r>
            <a:r>
              <a:rPr dirty="0" sz="1400" spc="4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4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40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</a:t>
            </a:r>
            <a:r>
              <a:rPr dirty="0" sz="1400" spc="4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must</a:t>
            </a:r>
            <a:r>
              <a:rPr dirty="0" sz="1400" spc="4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4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authenticated</a:t>
            </a:r>
            <a:r>
              <a:rPr dirty="0" sz="1400" spc="40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authorized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before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granting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access.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get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 </a:t>
            </a:r>
            <a:r>
              <a:rPr dirty="0" sz="1400">
                <a:latin typeface="Times New Roman"/>
                <a:cs typeface="Times New Roman"/>
              </a:rPr>
              <a:t>they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need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instead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full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network,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minimizes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lateral </a:t>
            </a:r>
            <a:r>
              <a:rPr dirty="0" sz="1400">
                <a:latin typeface="Times New Roman"/>
                <a:cs typeface="Times New Roman"/>
              </a:rPr>
              <a:t>movement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attackers.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469900" marR="12065">
              <a:lnSpc>
                <a:spcPct val="1100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provides</a:t>
            </a:r>
            <a:r>
              <a:rPr dirty="0" sz="1400" spc="2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cloud-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2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platform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ZTNA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called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Private </a:t>
            </a:r>
            <a:r>
              <a:rPr dirty="0" sz="1400">
                <a:latin typeface="Times New Roman"/>
                <a:cs typeface="Times New Roman"/>
              </a:rPr>
              <a:t>Access.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Zscaler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remote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validating: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400">
              <a:latin typeface="Times New Roman"/>
              <a:cs typeface="Times New Roman"/>
            </a:endParaRPr>
          </a:p>
          <a:p>
            <a:pPr marL="1384300" indent="-228600">
              <a:lnSpc>
                <a:spcPct val="100000"/>
              </a:lnSpc>
              <a:buFont typeface="Symbol"/>
              <a:buChar char=""/>
              <a:tabLst>
                <a:tab pos="1384300" algn="l"/>
              </a:tabLst>
            </a:pP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identity</a:t>
            </a:r>
            <a:endParaRPr sz="1400">
              <a:latin typeface="Times New Roman"/>
              <a:cs typeface="Times New Roman"/>
            </a:endParaRPr>
          </a:p>
          <a:p>
            <a:pPr marL="1384300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1384300" algn="l"/>
              </a:tabLst>
            </a:pP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8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posture</a:t>
            </a:r>
            <a:endParaRPr sz="1400">
              <a:latin typeface="Times New Roman"/>
              <a:cs typeface="Times New Roman"/>
            </a:endParaRPr>
          </a:p>
          <a:p>
            <a:pPr marL="1384300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1384300" algn="l"/>
              </a:tabLst>
            </a:pP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each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469900" marR="5080">
              <a:lnSpc>
                <a:spcPct val="110300"/>
              </a:lnSpc>
            </a:pPr>
            <a:r>
              <a:rPr dirty="0" sz="1400">
                <a:latin typeface="Times New Roman"/>
                <a:cs typeface="Times New Roman"/>
              </a:rPr>
              <a:t>Alongside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ZTNA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implementation,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must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vulnerability </a:t>
            </a:r>
            <a:r>
              <a:rPr dirty="0" sz="1400">
                <a:latin typeface="Times New Roman"/>
                <a:cs typeface="Times New Roman"/>
              </a:rPr>
              <a:t>assessments</a:t>
            </a:r>
            <a:r>
              <a:rPr dirty="0" sz="1400" spc="10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11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10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9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weaknesses</a:t>
            </a:r>
            <a:r>
              <a:rPr dirty="0" sz="1400" spc="10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9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systems.</a:t>
            </a:r>
            <a:r>
              <a:rPr dirty="0" sz="1400" spc="105">
                <a:latin typeface="Times New Roman"/>
                <a:cs typeface="Times New Roman"/>
              </a:rPr>
              <a:t>  </a:t>
            </a:r>
            <a:r>
              <a:rPr dirty="0" sz="1400" spc="-10">
                <a:latin typeface="Times New Roman"/>
                <a:cs typeface="Times New Roman"/>
              </a:rPr>
              <a:t>Vulnerability </a:t>
            </a:r>
            <a:r>
              <a:rPr dirty="0" sz="1400">
                <a:latin typeface="Times New Roman"/>
                <a:cs typeface="Times New Roman"/>
              </a:rPr>
              <a:t>scanning</a:t>
            </a:r>
            <a:r>
              <a:rPr dirty="0" sz="1400" spc="2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misconfigurations,</a:t>
            </a:r>
            <a:r>
              <a:rPr dirty="0" sz="1400" spc="2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outdated</a:t>
            </a:r>
            <a:r>
              <a:rPr dirty="0" sz="1400" spc="2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software,</a:t>
            </a:r>
            <a:r>
              <a:rPr dirty="0" sz="1400" spc="2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8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exposed </a:t>
            </a:r>
            <a:r>
              <a:rPr dirty="0" sz="1400">
                <a:latin typeface="Times New Roman"/>
                <a:cs typeface="Times New Roman"/>
              </a:rPr>
              <a:t>services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could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exploit.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project,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Nessus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scan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safe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testing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analyze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vulnerabilities.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Nessus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uses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plugins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>
                <a:latin typeface="Times New Roman"/>
                <a:cs typeface="Times New Roman"/>
              </a:rPr>
              <a:t>detect</a:t>
            </a:r>
            <a:r>
              <a:rPr dirty="0" sz="1400" spc="3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known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vulnerabilities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provides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detailed</a:t>
            </a:r>
            <a:r>
              <a:rPr dirty="0" sz="1400" spc="3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reports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3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severity </a:t>
            </a:r>
            <a:r>
              <a:rPr dirty="0" sz="1400">
                <a:latin typeface="Times New Roman"/>
                <a:cs typeface="Times New Roman"/>
              </a:rPr>
              <a:t>levels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solutions.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469900" marR="6985">
              <a:lnSpc>
                <a:spcPct val="110000"/>
              </a:lnSpc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1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Stage</a:t>
            </a:r>
            <a:r>
              <a:rPr dirty="0" sz="1400" spc="1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</a:t>
            </a:r>
            <a:r>
              <a:rPr dirty="0" sz="1400" spc="1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report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demonstrates</a:t>
            </a:r>
            <a:r>
              <a:rPr dirty="0" sz="1400" spc="1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1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ZTNA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architecture</a:t>
            </a:r>
            <a:r>
              <a:rPr dirty="0" sz="1400" spc="1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1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managed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Nessus</a:t>
            </a:r>
            <a:r>
              <a:rPr dirty="0" sz="1400" spc="2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2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vulnerabilities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64158"/>
            <a:ext cx="5967730" cy="4074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69900" marR="12700">
              <a:lnSpc>
                <a:spcPct val="11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networked</a:t>
            </a:r>
            <a:r>
              <a:rPr dirty="0" sz="1400" spc="1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systems.</a:t>
            </a:r>
            <a:r>
              <a:rPr dirty="0" sz="1400" spc="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goal</a:t>
            </a:r>
            <a:r>
              <a:rPr dirty="0" sz="1400" spc="1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learn</a:t>
            </a:r>
            <a:r>
              <a:rPr dirty="0" sz="1400" spc="1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1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1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1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frameworks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management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work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together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cybersecurity.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What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You</a:t>
            </a:r>
            <a:r>
              <a:rPr dirty="0" sz="1400" spc="-6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Understood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About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Nessus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469900" marR="5080">
              <a:lnSpc>
                <a:spcPct val="1101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Nessus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powerful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networks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known </a:t>
            </a:r>
            <a:r>
              <a:rPr dirty="0" sz="1400">
                <a:latin typeface="Times New Roman"/>
                <a:cs typeface="Times New Roman"/>
              </a:rPr>
              <a:t>vulnerabilities.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project,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key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points</a:t>
            </a:r>
            <a:r>
              <a:rPr dirty="0" sz="1400" spc="2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understood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about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Nessus </a:t>
            </a:r>
            <a:r>
              <a:rPr dirty="0" sz="1400" spc="-20">
                <a:latin typeface="Times New Roman"/>
                <a:cs typeface="Times New Roman"/>
              </a:rPr>
              <a:t>are: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400">
              <a:latin typeface="Times New Roman"/>
              <a:cs typeface="Times New Roman"/>
            </a:endParaRPr>
          </a:p>
          <a:p>
            <a:pPr marL="648970" indent="-17907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648970" algn="l"/>
              </a:tabLst>
            </a:pPr>
            <a:r>
              <a:rPr dirty="0" sz="1400" b="1">
                <a:latin typeface="Times New Roman"/>
                <a:cs typeface="Times New Roman"/>
              </a:rPr>
              <a:t>Nessus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identifies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vulnerabilities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such</a:t>
            </a:r>
            <a:r>
              <a:rPr dirty="0" sz="1400" spc="-65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as: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lvl="1" marL="13843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1384300" algn="l"/>
              </a:tabLst>
            </a:pP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misconfigurations</a:t>
            </a:r>
            <a:endParaRPr sz="1400">
              <a:latin typeface="Times New Roman"/>
              <a:cs typeface="Times New Roman"/>
            </a:endParaRPr>
          </a:p>
          <a:p>
            <a:pPr lvl="1" marL="1384300" indent="-228600">
              <a:lnSpc>
                <a:spcPct val="100000"/>
              </a:lnSpc>
              <a:spcBef>
                <a:spcPts val="260"/>
              </a:spcBef>
              <a:buFont typeface="Symbol"/>
              <a:buChar char=""/>
              <a:tabLst>
                <a:tab pos="1384300" algn="l"/>
              </a:tabLst>
            </a:pPr>
            <a:r>
              <a:rPr dirty="0" sz="1400">
                <a:latin typeface="Times New Roman"/>
                <a:cs typeface="Times New Roman"/>
              </a:rPr>
              <a:t>Outdated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software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5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lvl="1" marL="1384300" indent="-228600">
              <a:lnSpc>
                <a:spcPct val="100000"/>
              </a:lnSpc>
              <a:buFont typeface="Symbol"/>
              <a:buChar char=""/>
              <a:tabLst>
                <a:tab pos="1384300" algn="l"/>
              </a:tabLst>
            </a:pPr>
            <a:r>
              <a:rPr dirty="0" sz="1400">
                <a:latin typeface="Times New Roman"/>
                <a:cs typeface="Times New Roman"/>
              </a:rPr>
              <a:t>Unencrypted</a:t>
            </a:r>
            <a:r>
              <a:rPr dirty="0" sz="1400" spc="-8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services</a:t>
            </a:r>
            <a:endParaRPr sz="1400">
              <a:latin typeface="Times New Roman"/>
              <a:cs typeface="Times New Roman"/>
            </a:endParaRPr>
          </a:p>
          <a:p>
            <a:pPr lvl="1" marL="1384300" indent="-228600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1384300" algn="l"/>
              </a:tabLst>
            </a:pPr>
            <a:r>
              <a:rPr dirty="0" sz="1400">
                <a:latin typeface="Times New Roman"/>
                <a:cs typeface="Times New Roman"/>
              </a:rPr>
              <a:t>Exposed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ports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59535" y="5620563"/>
            <a:ext cx="5504815" cy="3156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200025">
              <a:lnSpc>
                <a:spcPct val="110000"/>
              </a:lnSpc>
              <a:spcBef>
                <a:spcPts val="100"/>
              </a:spcBef>
              <a:buAutoNum type="arabicPeriod" startAt="2"/>
              <a:tabLst>
                <a:tab pos="212725" algn="l"/>
              </a:tabLst>
            </a:pPr>
            <a:r>
              <a:rPr dirty="0" sz="1400" b="1">
                <a:latin typeface="Times New Roman"/>
                <a:cs typeface="Times New Roman"/>
              </a:rPr>
              <a:t>Nessus</a:t>
            </a:r>
            <a:r>
              <a:rPr dirty="0" sz="1400" spc="1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works</a:t>
            </a:r>
            <a:r>
              <a:rPr dirty="0" sz="1400" spc="1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by</a:t>
            </a:r>
            <a:r>
              <a:rPr dirty="0" sz="1400" spc="1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using</a:t>
            </a:r>
            <a:r>
              <a:rPr dirty="0" sz="1400" spc="1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plugins</a:t>
            </a:r>
            <a:r>
              <a:rPr dirty="0" sz="1400">
                <a:latin typeface="Times New Roman"/>
                <a:cs typeface="Times New Roman"/>
              </a:rPr>
              <a:t>,</a:t>
            </a:r>
            <a:r>
              <a:rPr dirty="0" sz="1400" spc="1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1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scripts</a:t>
            </a:r>
            <a:r>
              <a:rPr dirty="0" sz="1400" spc="1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test</a:t>
            </a:r>
            <a:r>
              <a:rPr dirty="0" sz="1400" spc="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specific </a:t>
            </a:r>
            <a:r>
              <a:rPr dirty="0" sz="1400">
                <a:latin typeface="Times New Roman"/>
                <a:cs typeface="Times New Roman"/>
              </a:rPr>
              <a:t>vulnerabilities.</a:t>
            </a:r>
            <a:r>
              <a:rPr dirty="0" sz="1400" spc="26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Each</a:t>
            </a:r>
            <a:r>
              <a:rPr dirty="0" sz="1400" spc="24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plugin</a:t>
            </a:r>
            <a:r>
              <a:rPr dirty="0" sz="1400" spc="254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26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24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ID,</a:t>
            </a:r>
            <a:r>
              <a:rPr dirty="0" sz="1400" spc="26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description,</a:t>
            </a:r>
            <a:r>
              <a:rPr dirty="0" sz="1400" spc="26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severity,</a:t>
            </a:r>
            <a:r>
              <a:rPr dirty="0" sz="1400" spc="260">
                <a:latin typeface="Times New Roman"/>
                <a:cs typeface="Times New Roman"/>
              </a:rPr>
              <a:t> 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 spc="-10">
                <a:latin typeface="Times New Roman"/>
                <a:cs typeface="Times New Roman"/>
              </a:rPr>
              <a:t>recommended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solution.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 startAt="2"/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Font typeface="Times New Roman"/>
              <a:buAutoNum type="arabicPeriod" startAt="2"/>
            </a:pPr>
            <a:endParaRPr sz="1400">
              <a:latin typeface="Times New Roman"/>
              <a:cs typeface="Times New Roman"/>
            </a:endParaRPr>
          </a:p>
          <a:p>
            <a:pPr algn="just" marL="191770" indent="-179070">
              <a:lnSpc>
                <a:spcPct val="100000"/>
              </a:lnSpc>
              <a:buAutoNum type="arabicPeriod" startAt="2"/>
              <a:tabLst>
                <a:tab pos="191770" algn="l"/>
              </a:tabLst>
            </a:pPr>
            <a:r>
              <a:rPr dirty="0" sz="1400" b="1">
                <a:latin typeface="Times New Roman"/>
                <a:cs typeface="Times New Roman"/>
              </a:rPr>
              <a:t>Nessus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produces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detailed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report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showing</a:t>
            </a:r>
            <a:r>
              <a:rPr dirty="0" sz="1400" spc="-10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Font typeface="Times New Roman"/>
              <a:buAutoNum type="arabicPeriod" startAt="2"/>
            </a:pPr>
            <a:endParaRPr sz="1400">
              <a:latin typeface="Times New Roman"/>
              <a:cs typeface="Times New Roman"/>
            </a:endParaRPr>
          </a:p>
          <a:p>
            <a:pPr lvl="1" marL="927100" indent="-228600">
              <a:lnSpc>
                <a:spcPct val="100000"/>
              </a:lnSpc>
              <a:buFont typeface="Symbol"/>
              <a:buChar char=""/>
              <a:tabLst>
                <a:tab pos="927100" algn="l"/>
              </a:tabLst>
            </a:pP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8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Name</a:t>
            </a:r>
            <a:endParaRPr sz="1400">
              <a:latin typeface="Times New Roman"/>
              <a:cs typeface="Times New Roman"/>
            </a:endParaRPr>
          </a:p>
          <a:p>
            <a:pPr lvl="1" marL="927100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400">
                <a:latin typeface="Times New Roman"/>
                <a:cs typeface="Times New Roman"/>
              </a:rPr>
              <a:t>Severity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(Low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/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Medium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/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/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Critical)</a:t>
            </a:r>
            <a:endParaRPr sz="1400">
              <a:latin typeface="Times New Roman"/>
              <a:cs typeface="Times New Roman"/>
            </a:endParaRPr>
          </a:p>
          <a:p>
            <a:pPr lvl="1" marL="927100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400">
                <a:latin typeface="Times New Roman"/>
                <a:cs typeface="Times New Roman"/>
              </a:rPr>
              <a:t>Plugin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ID</a:t>
            </a:r>
            <a:endParaRPr sz="1400">
              <a:latin typeface="Times New Roman"/>
              <a:cs typeface="Times New Roman"/>
            </a:endParaRPr>
          </a:p>
          <a:p>
            <a:pPr lvl="1" marL="927100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400">
                <a:latin typeface="Times New Roman"/>
                <a:cs typeface="Times New Roman"/>
              </a:rPr>
              <a:t>Affected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port</a:t>
            </a:r>
            <a:endParaRPr sz="1400">
              <a:latin typeface="Times New Roman"/>
              <a:cs typeface="Times New Roman"/>
            </a:endParaRPr>
          </a:p>
          <a:p>
            <a:pPr lvl="1" marL="927100" indent="-228600">
              <a:lnSpc>
                <a:spcPct val="100000"/>
              </a:lnSpc>
              <a:spcBef>
                <a:spcPts val="285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400" spc="-10">
                <a:latin typeface="Times New Roman"/>
                <a:cs typeface="Times New Roman"/>
              </a:rPr>
              <a:t>Description</a:t>
            </a:r>
            <a:endParaRPr sz="1400">
              <a:latin typeface="Times New Roman"/>
              <a:cs typeface="Times New Roman"/>
            </a:endParaRPr>
          </a:p>
          <a:p>
            <a:pPr lvl="1" marL="927100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400" spc="-10">
                <a:latin typeface="Times New Roman"/>
                <a:cs typeface="Times New Roman"/>
              </a:rPr>
              <a:t>Recommended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solution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1098853"/>
            <a:ext cx="5963285" cy="2614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245745">
              <a:lnSpc>
                <a:spcPct val="110000"/>
              </a:lnSpc>
              <a:spcBef>
                <a:spcPts val="100"/>
              </a:spcBef>
              <a:buAutoNum type="arabicPeriod" startAt="4"/>
              <a:tabLst>
                <a:tab pos="715645" algn="l"/>
              </a:tabLst>
            </a:pPr>
            <a:r>
              <a:rPr dirty="0" sz="1400">
                <a:latin typeface="Times New Roman"/>
                <a:cs typeface="Times New Roman"/>
              </a:rPr>
              <a:t>Nessus</a:t>
            </a:r>
            <a:r>
              <a:rPr dirty="0" sz="1400" spc="4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4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43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professionals</a:t>
            </a:r>
            <a:r>
              <a:rPr dirty="0" sz="1400" spc="4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prioritize</a:t>
            </a:r>
            <a:r>
              <a:rPr dirty="0" sz="1400" spc="45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remediation</a:t>
            </a:r>
            <a:r>
              <a:rPr dirty="0" sz="1400" spc="4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45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on </a:t>
            </a:r>
            <a:r>
              <a:rPr dirty="0" sz="1400">
                <a:latin typeface="Times New Roman"/>
                <a:cs typeface="Times New Roman"/>
              </a:rPr>
              <a:t>severity,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exploitation.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  <a:buFont typeface="Times New Roman"/>
              <a:buAutoNum type="arabicPeriod" startAt="4"/>
            </a:pPr>
            <a:endParaRPr sz="1400">
              <a:latin typeface="Times New Roman"/>
              <a:cs typeface="Times New Roman"/>
            </a:endParaRPr>
          </a:p>
          <a:p>
            <a:pPr marL="469900" marR="7620" indent="227329">
              <a:lnSpc>
                <a:spcPct val="110000"/>
              </a:lnSpc>
              <a:buAutoNum type="arabicPeriod" startAt="4"/>
              <a:tabLst>
                <a:tab pos="697230" algn="l"/>
              </a:tabLst>
            </a:pP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3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3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</a:t>
            </a:r>
            <a:r>
              <a:rPr dirty="0" sz="1400" spc="3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websites,</a:t>
            </a:r>
            <a:r>
              <a:rPr dirty="0" sz="1400" spc="3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IP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addresses,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3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networked</a:t>
            </a:r>
            <a:r>
              <a:rPr dirty="0" sz="1400" spc="3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</a:t>
            </a:r>
            <a:r>
              <a:rPr dirty="0" sz="1400" spc="3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detect vulnerabilities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safely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lab/test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environments.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Target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Website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400" spc="-10">
                <a:latin typeface="Times New Roman"/>
                <a:cs typeface="Times New Roman"/>
                <a:hlinkClick r:id="rId2"/>
              </a:rPr>
              <a:t>http://testphp.vulnweb.com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(Safe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website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scanning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practice)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30732" y="4417313"/>
            <a:ext cx="1699260" cy="11798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Target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IP </a:t>
            </a:r>
            <a:r>
              <a:rPr dirty="0" sz="1400" spc="-10" b="1">
                <a:latin typeface="Times New Roman"/>
                <a:cs typeface="Times New Roman"/>
              </a:rPr>
              <a:t>Address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400">
              <a:latin typeface="Times New Roman"/>
              <a:cs typeface="Times New Roman"/>
            </a:endParaRPr>
          </a:p>
          <a:p>
            <a:pPr algn="r" marR="17145">
              <a:lnSpc>
                <a:spcPct val="100000"/>
              </a:lnSpc>
            </a:pPr>
            <a:r>
              <a:rPr dirty="0" sz="1400" spc="-10">
                <a:latin typeface="Times New Roman"/>
                <a:cs typeface="Times New Roman"/>
              </a:rPr>
              <a:t>44.228.249.3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400">
              <a:latin typeface="Times New Roman"/>
              <a:cs typeface="Times New Roman"/>
            </a:endParaRPr>
          </a:p>
          <a:p>
            <a:pPr algn="r" marR="2413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List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Vulnerabilities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024432" y="6088634"/>
          <a:ext cx="5985510" cy="2696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8435"/>
                <a:gridCol w="1490980"/>
                <a:gridCol w="1469389"/>
                <a:gridCol w="1493520"/>
              </a:tblGrid>
              <a:tr h="414020">
                <a:tc>
                  <a:txBody>
                    <a:bodyPr/>
                    <a:lstStyle/>
                    <a:p>
                      <a:pPr algn="ctr" marR="31750">
                        <a:lnSpc>
                          <a:spcPts val="1575"/>
                        </a:lnSpc>
                      </a:pP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S.No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466090"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Vulnerability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Name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Severity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387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Plugin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830"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1)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64135">
                        <a:lnSpc>
                          <a:spcPts val="1610"/>
                        </a:lnSpc>
                        <a:tabLst>
                          <a:tab pos="670560" algn="l"/>
                        </a:tabLst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SSL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Certificate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Cannot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Trusted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Medium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387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51192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2)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64769">
                        <a:lnSpc>
                          <a:spcPts val="1610"/>
                        </a:lnSpc>
                        <a:tabLst>
                          <a:tab pos="798195" algn="l"/>
                        </a:tabLst>
                      </a:pP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HTTP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Methods Allowed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Low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387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42873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3)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60960">
                        <a:lnSpc>
                          <a:spcPts val="1610"/>
                        </a:lnSpc>
                        <a:tabLst>
                          <a:tab pos="511175" algn="l"/>
                        </a:tabLst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TLS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	Version</a:t>
                      </a:r>
                      <a:r>
                        <a:rPr dirty="0" sz="1400" spc="12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1.0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Protocol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Detection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Medium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387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104743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655"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4)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60325">
                        <a:lnSpc>
                          <a:spcPts val="1610"/>
                        </a:lnSpc>
                        <a:tabLst>
                          <a:tab pos="895985" algn="l"/>
                        </a:tabLst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Click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jacking Vulnerability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Medium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387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85582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1665"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5)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60960">
                        <a:lnSpc>
                          <a:spcPts val="1610"/>
                        </a:lnSpc>
                        <a:spcBef>
                          <a:spcPts val="5"/>
                        </a:spcBef>
                        <a:tabLst>
                          <a:tab pos="919480" algn="l"/>
                        </a:tabLst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Directory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Listing Enabled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Low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387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10833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22172" y="1124458"/>
            <a:ext cx="6146165" cy="8000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0" b="1">
                <a:latin typeface="Times New Roman"/>
                <a:cs typeface="Times New Roman"/>
              </a:rPr>
              <a:t>REPORT: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400">
              <a:latin typeface="Times New Roman"/>
              <a:cs typeface="Times New Roman"/>
            </a:endParaRPr>
          </a:p>
          <a:p>
            <a:pPr marL="383540" indent="-191135">
              <a:lnSpc>
                <a:spcPct val="100000"/>
              </a:lnSpc>
              <a:buAutoNum type="arabicParenR"/>
              <a:tabLst>
                <a:tab pos="383540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Vulnerability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Name: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SSL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Certificate</a:t>
            </a:r>
            <a:r>
              <a:rPr dirty="0" sz="1400" spc="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Cannot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Trusted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Font typeface="Times New Roman"/>
              <a:buAutoNum type="arabicParenR"/>
            </a:pPr>
            <a:endParaRPr sz="1400">
              <a:latin typeface="Times New Roman"/>
              <a:cs typeface="Times New Roman"/>
            </a:endParaRPr>
          </a:p>
          <a:p>
            <a:pPr marL="649605" marR="4199890">
              <a:lnSpc>
                <a:spcPct val="110000"/>
              </a:lnSpc>
              <a:spcBef>
                <a:spcPts val="5"/>
              </a:spcBef>
            </a:pPr>
            <a:r>
              <a:rPr dirty="0" sz="1400" spc="-10">
                <a:latin typeface="Times New Roman"/>
                <a:cs typeface="Times New Roman"/>
              </a:rPr>
              <a:t>Severity: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Medium </a:t>
            </a:r>
            <a:r>
              <a:rPr dirty="0" sz="1400">
                <a:latin typeface="Times New Roman"/>
                <a:cs typeface="Times New Roman"/>
              </a:rPr>
              <a:t>Plugin: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51192</a:t>
            </a:r>
            <a:endParaRPr sz="1400">
              <a:latin typeface="Times New Roman"/>
              <a:cs typeface="Times New Roman"/>
            </a:endParaRPr>
          </a:p>
          <a:p>
            <a:pPr marL="649605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imes New Roman"/>
                <a:cs typeface="Times New Roman"/>
              </a:rPr>
              <a:t>Port: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443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4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marL="649605" marR="9525">
              <a:lnSpc>
                <a:spcPts val="1870"/>
              </a:lnSpc>
              <a:spcBef>
                <a:spcPts val="45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SSL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certificate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website is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trusted.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 could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 </a:t>
            </a:r>
            <a:r>
              <a:rPr dirty="0" sz="1400" spc="-10">
                <a:latin typeface="Times New Roman"/>
                <a:cs typeface="Times New Roman"/>
              </a:rPr>
              <a:t>because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10">
                <a:latin typeface="Times New Roman"/>
                <a:cs typeface="Times New Roman"/>
              </a:rPr>
              <a:t> self-</a:t>
            </a:r>
            <a:r>
              <a:rPr dirty="0" sz="1400">
                <a:latin typeface="Times New Roman"/>
                <a:cs typeface="Times New Roman"/>
              </a:rPr>
              <a:t>signed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issued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untrusted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certificate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authority.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4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Solution:</a:t>
            </a:r>
            <a:endParaRPr sz="1400">
              <a:latin typeface="Times New Roman"/>
              <a:cs typeface="Times New Roman"/>
            </a:endParaRPr>
          </a:p>
          <a:p>
            <a:pPr marL="649605">
              <a:lnSpc>
                <a:spcPct val="100000"/>
              </a:lnSpc>
              <a:spcBef>
                <a:spcPts val="145"/>
              </a:spcBef>
            </a:pPr>
            <a:r>
              <a:rPr dirty="0" sz="1400">
                <a:latin typeface="Times New Roman"/>
                <a:cs typeface="Times New Roman"/>
              </a:rPr>
              <a:t>Use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10">
                <a:latin typeface="Times New Roman"/>
                <a:cs typeface="Times New Roman"/>
              </a:rPr>
              <a:t> valid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SSL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certificate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trusted</a:t>
            </a:r>
            <a:r>
              <a:rPr dirty="0" sz="1400" spc="-10">
                <a:latin typeface="Times New Roman"/>
                <a:cs typeface="Times New Roman"/>
              </a:rPr>
              <a:t> certificate authority.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Business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Impact:</a:t>
            </a:r>
            <a:endParaRPr sz="1400">
              <a:latin typeface="Times New Roman"/>
              <a:cs typeface="Times New Roman"/>
            </a:endParaRPr>
          </a:p>
          <a:p>
            <a:pPr marL="649605" marR="5080">
              <a:lnSpc>
                <a:spcPts val="1870"/>
              </a:lnSpc>
              <a:spcBef>
                <a:spcPts val="45"/>
              </a:spcBef>
            </a:pP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could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intercept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communication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man-</a:t>
            </a:r>
            <a:r>
              <a:rPr dirty="0" sz="1400" spc="-10">
                <a:latin typeface="Times New Roman"/>
                <a:cs typeface="Times New Roman"/>
              </a:rPr>
              <a:t>in-</a:t>
            </a:r>
            <a:r>
              <a:rPr dirty="0" sz="1400" spc="-20">
                <a:latin typeface="Times New Roman"/>
                <a:cs typeface="Times New Roman"/>
              </a:rPr>
              <a:t>the- </a:t>
            </a:r>
            <a:r>
              <a:rPr dirty="0" sz="1400">
                <a:latin typeface="Times New Roman"/>
                <a:cs typeface="Times New Roman"/>
              </a:rPr>
              <a:t>middle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attacks.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400">
              <a:latin typeface="Times New Roman"/>
              <a:cs typeface="Times New Roman"/>
            </a:endParaRPr>
          </a:p>
          <a:p>
            <a:pPr marL="383540" indent="-191135">
              <a:lnSpc>
                <a:spcPct val="100000"/>
              </a:lnSpc>
              <a:buAutoNum type="arabicParenR" startAt="2"/>
              <a:tabLst>
                <a:tab pos="383540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Vulnerability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Name: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HTTP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Methods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Allowed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400">
              <a:latin typeface="Times New Roman"/>
              <a:cs typeface="Times New Roman"/>
            </a:endParaRPr>
          </a:p>
          <a:p>
            <a:pPr marL="649605" marR="4479925">
              <a:lnSpc>
                <a:spcPct val="110000"/>
              </a:lnSpc>
            </a:pPr>
            <a:r>
              <a:rPr dirty="0" sz="1400">
                <a:latin typeface="Times New Roman"/>
                <a:cs typeface="Times New Roman"/>
              </a:rPr>
              <a:t>Severity: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Low </a:t>
            </a:r>
            <a:r>
              <a:rPr dirty="0" sz="1400">
                <a:latin typeface="Times New Roman"/>
                <a:cs typeface="Times New Roman"/>
              </a:rPr>
              <a:t>Plugin: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42873</a:t>
            </a:r>
            <a:endParaRPr sz="1400">
              <a:latin typeface="Times New Roman"/>
              <a:cs typeface="Times New Roman"/>
            </a:endParaRPr>
          </a:p>
          <a:p>
            <a:pPr marL="649605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imes New Roman"/>
                <a:cs typeface="Times New Roman"/>
              </a:rPr>
              <a:t>Port: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80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4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marL="649605" marR="8890">
              <a:lnSpc>
                <a:spcPts val="1850"/>
              </a:lnSpc>
              <a:spcBef>
                <a:spcPts val="65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7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8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server</a:t>
            </a:r>
            <a:r>
              <a:rPr dirty="0" sz="1400" spc="7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allows</a:t>
            </a:r>
            <a:r>
              <a:rPr dirty="0" sz="1400" spc="9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unnecessary</a:t>
            </a:r>
            <a:r>
              <a:rPr dirty="0" sz="1400" spc="8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HTTP</a:t>
            </a:r>
            <a:r>
              <a:rPr dirty="0" sz="1400" spc="8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methods</a:t>
            </a:r>
            <a:r>
              <a:rPr dirty="0" sz="1400" spc="8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4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8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PUT</a:t>
            </a:r>
            <a:r>
              <a:rPr dirty="0" sz="1400" spc="75">
                <a:latin typeface="Times New Roman"/>
                <a:cs typeface="Times New Roman"/>
              </a:rPr>
              <a:t>  </a:t>
            </a:r>
            <a:r>
              <a:rPr dirty="0" sz="1400" spc="-25">
                <a:latin typeface="Times New Roman"/>
                <a:cs typeface="Times New Roman"/>
              </a:rPr>
              <a:t>or </a:t>
            </a:r>
            <a:r>
              <a:rPr dirty="0" sz="1400">
                <a:latin typeface="Times New Roman"/>
                <a:cs typeface="Times New Roman"/>
              </a:rPr>
              <a:t>DELETE,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expose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0">
                <a:latin typeface="Times New Roman"/>
                <a:cs typeface="Times New Roman"/>
              </a:rPr>
              <a:t> attacks.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4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latin typeface="Times New Roman"/>
                <a:cs typeface="Times New Roman"/>
              </a:rPr>
              <a:t>Solution:</a:t>
            </a:r>
            <a:endParaRPr sz="1400">
              <a:latin typeface="Times New Roman"/>
              <a:cs typeface="Times New Roman"/>
            </a:endParaRPr>
          </a:p>
          <a:p>
            <a:pPr marL="649605">
              <a:lnSpc>
                <a:spcPct val="100000"/>
              </a:lnSpc>
              <a:spcBef>
                <a:spcPts val="140"/>
              </a:spcBef>
            </a:pPr>
            <a:r>
              <a:rPr dirty="0" sz="1400">
                <a:latin typeface="Times New Roman"/>
                <a:cs typeface="Times New Roman"/>
              </a:rPr>
              <a:t>Disable</a:t>
            </a:r>
            <a:r>
              <a:rPr dirty="0" sz="1400" spc="-10">
                <a:latin typeface="Times New Roman"/>
                <a:cs typeface="Times New Roman"/>
              </a:rPr>
              <a:t> unnecessary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HTTP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configuration.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4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Business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Impact: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6713"/>
            <a:ext cx="5964555" cy="3296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could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modify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website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content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upload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malicious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files.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3)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Vulnerability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Name: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TLS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Version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1.0</a:t>
            </a:r>
            <a:r>
              <a:rPr dirty="0" sz="1400" spc="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Protocol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Detection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400">
              <a:latin typeface="Times New Roman"/>
              <a:cs typeface="Times New Roman"/>
            </a:endParaRPr>
          </a:p>
          <a:p>
            <a:pPr marL="469900" marR="4197985">
              <a:lnSpc>
                <a:spcPct val="110000"/>
              </a:lnSpc>
            </a:pPr>
            <a:r>
              <a:rPr dirty="0" sz="1400" spc="-10">
                <a:latin typeface="Times New Roman"/>
                <a:cs typeface="Times New Roman"/>
              </a:rPr>
              <a:t>Severity: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Medium </a:t>
            </a:r>
            <a:r>
              <a:rPr dirty="0" sz="1400">
                <a:latin typeface="Times New Roman"/>
                <a:cs typeface="Times New Roman"/>
              </a:rPr>
              <a:t>Plugin: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104743</a:t>
            </a: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imes New Roman"/>
                <a:cs typeface="Times New Roman"/>
              </a:rPr>
              <a:t>Port: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443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marL="469900" marR="5080">
              <a:lnSpc>
                <a:spcPts val="1850"/>
              </a:lnSpc>
              <a:spcBef>
                <a:spcPts val="65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4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</a:t>
            </a:r>
            <a:r>
              <a:rPr dirty="0" sz="1400" spc="40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supports</a:t>
            </a:r>
            <a:r>
              <a:rPr dirty="0" sz="1400" spc="4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4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outdated</a:t>
            </a:r>
            <a:r>
              <a:rPr dirty="0" sz="1400" spc="4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TLS</a:t>
            </a:r>
            <a:r>
              <a:rPr dirty="0" sz="1400" spc="40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1.0</a:t>
            </a:r>
            <a:r>
              <a:rPr dirty="0" sz="1400" spc="4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protocol,</a:t>
            </a:r>
            <a:r>
              <a:rPr dirty="0" sz="1400" spc="4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4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4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known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vulnerabilities.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Solution:</a:t>
            </a: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45"/>
              </a:spcBef>
            </a:pPr>
            <a:r>
              <a:rPr dirty="0" sz="1400">
                <a:latin typeface="Times New Roman"/>
                <a:cs typeface="Times New Roman"/>
              </a:rPr>
              <a:t>Disable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TLS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1.0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enable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TLS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1.2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TLS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1.3.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235984" y="4649215"/>
            <a:ext cx="362712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21665" algn="l"/>
                <a:tab pos="1473835" algn="l"/>
                <a:tab pos="1826895" algn="l"/>
                <a:tab pos="2916555" algn="l"/>
              </a:tabLst>
            </a:pPr>
            <a:r>
              <a:rPr dirty="0" sz="1400" spc="-10">
                <a:latin typeface="Times New Roman"/>
                <a:cs typeface="Times New Roman"/>
              </a:rPr>
              <a:t>allow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attackers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25">
                <a:latin typeface="Times New Roman"/>
                <a:cs typeface="Times New Roman"/>
              </a:rPr>
              <a:t>to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compromise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encrypted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4397552"/>
            <a:ext cx="2146300" cy="72390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1400" b="1">
                <a:latin typeface="Times New Roman"/>
                <a:cs typeface="Times New Roman"/>
              </a:rPr>
              <a:t>Business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Impact:</a:t>
            </a:r>
            <a:endParaRPr sz="1400">
              <a:latin typeface="Times New Roman"/>
              <a:cs typeface="Times New Roman"/>
            </a:endParaRPr>
          </a:p>
          <a:p>
            <a:pPr marL="469900" marR="5080">
              <a:lnSpc>
                <a:spcPts val="1850"/>
              </a:lnSpc>
              <a:spcBef>
                <a:spcPts val="65"/>
              </a:spcBef>
              <a:tabLst>
                <a:tab pos="948055" algn="l"/>
                <a:tab pos="1828164" algn="l"/>
              </a:tabLst>
            </a:pPr>
            <a:r>
              <a:rPr dirty="0" sz="1400" spc="-25">
                <a:latin typeface="Times New Roman"/>
                <a:cs typeface="Times New Roman"/>
              </a:rPr>
              <a:t>Old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protocols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25">
                <a:latin typeface="Times New Roman"/>
                <a:cs typeface="Times New Roman"/>
              </a:rPr>
              <a:t>may </a:t>
            </a:r>
            <a:r>
              <a:rPr dirty="0" sz="1400" spc="-10">
                <a:latin typeface="Times New Roman"/>
                <a:cs typeface="Times New Roman"/>
              </a:rPr>
              <a:t>communications.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5339893"/>
            <a:ext cx="5967095" cy="355028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203835" indent="-191135">
              <a:lnSpc>
                <a:spcPct val="100000"/>
              </a:lnSpc>
              <a:spcBef>
                <a:spcPts val="245"/>
              </a:spcBef>
              <a:buAutoNum type="arabicParenR" startAt="4"/>
              <a:tabLst>
                <a:tab pos="203835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Vulnerability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Name: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Clickjacking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Vulnerability</a:t>
            </a:r>
            <a:endParaRPr sz="1400">
              <a:latin typeface="Times New Roman"/>
              <a:cs typeface="Times New Roman"/>
            </a:endParaRPr>
          </a:p>
          <a:p>
            <a:pPr marL="469900" marR="4200525">
              <a:lnSpc>
                <a:spcPts val="1850"/>
              </a:lnSpc>
              <a:spcBef>
                <a:spcPts val="65"/>
              </a:spcBef>
            </a:pPr>
            <a:r>
              <a:rPr dirty="0" sz="1400" spc="-10">
                <a:latin typeface="Times New Roman"/>
                <a:cs typeface="Times New Roman"/>
              </a:rPr>
              <a:t>Severity: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Medium </a:t>
            </a:r>
            <a:r>
              <a:rPr dirty="0" sz="1400">
                <a:latin typeface="Times New Roman"/>
                <a:cs typeface="Times New Roman"/>
              </a:rPr>
              <a:t>Plugin: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85582</a:t>
            </a: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75"/>
              </a:spcBef>
            </a:pPr>
            <a:r>
              <a:rPr dirty="0" sz="1400">
                <a:latin typeface="Times New Roman"/>
                <a:cs typeface="Times New Roman"/>
              </a:rPr>
              <a:t>Port: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80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400" spc="-10" b="1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marL="469900" marR="5080">
              <a:lnSpc>
                <a:spcPts val="1850"/>
              </a:lnSpc>
              <a:spcBef>
                <a:spcPts val="60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website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does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headers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like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X-</a:t>
            </a:r>
            <a:r>
              <a:rPr dirty="0" sz="1400" spc="-20">
                <a:latin typeface="Times New Roman"/>
                <a:cs typeface="Times New Roman"/>
              </a:rPr>
              <a:t>Frame-</a:t>
            </a:r>
            <a:r>
              <a:rPr dirty="0" sz="1400">
                <a:latin typeface="Times New Roman"/>
                <a:cs typeface="Times New Roman"/>
              </a:rPr>
              <a:t>Options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prevent clickjacking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attacks.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Solution:</a:t>
            </a: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45"/>
              </a:spcBef>
            </a:pPr>
            <a:r>
              <a:rPr dirty="0" sz="1400">
                <a:latin typeface="Times New Roman"/>
                <a:cs typeface="Times New Roman"/>
              </a:rPr>
              <a:t>Add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X-</a:t>
            </a:r>
            <a:r>
              <a:rPr dirty="0" sz="1400" spc="-20">
                <a:latin typeface="Times New Roman"/>
                <a:cs typeface="Times New Roman"/>
              </a:rPr>
              <a:t>Frame-</a:t>
            </a:r>
            <a:r>
              <a:rPr dirty="0" sz="1400">
                <a:latin typeface="Times New Roman"/>
                <a:cs typeface="Times New Roman"/>
              </a:rPr>
              <a:t>Options or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Content-Security-</a:t>
            </a:r>
            <a:r>
              <a:rPr dirty="0" sz="1400">
                <a:latin typeface="Times New Roman"/>
                <a:cs typeface="Times New Roman"/>
              </a:rPr>
              <a:t>Policy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headers to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block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framing.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Business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Impact:</a:t>
            </a: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40"/>
              </a:spcBef>
            </a:pP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could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tricked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unintended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actions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website.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400">
              <a:latin typeface="Times New Roman"/>
              <a:cs typeface="Times New Roman"/>
            </a:endParaRPr>
          </a:p>
          <a:p>
            <a:pPr marL="203835" indent="-191135">
              <a:lnSpc>
                <a:spcPct val="100000"/>
              </a:lnSpc>
              <a:buAutoNum type="arabicParenR" startAt="5"/>
              <a:tabLst>
                <a:tab pos="203835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Vulnerability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Name: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Directory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Listing </a:t>
            </a:r>
            <a:r>
              <a:rPr dirty="0" sz="1400" spc="-10" b="1">
                <a:latin typeface="Times New Roman"/>
                <a:cs typeface="Times New Roman"/>
              </a:rPr>
              <a:t>Enabled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64158"/>
            <a:ext cx="5966460" cy="7516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4479925">
              <a:lnSpc>
                <a:spcPct val="11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Severity: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Low </a:t>
            </a:r>
            <a:r>
              <a:rPr dirty="0" sz="1400">
                <a:latin typeface="Times New Roman"/>
                <a:cs typeface="Times New Roman"/>
              </a:rPr>
              <a:t>Plugin: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10833</a:t>
            </a: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imes New Roman"/>
                <a:cs typeface="Times New Roman"/>
              </a:rPr>
              <a:t>Port: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80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marL="469900" marR="11430">
              <a:lnSpc>
                <a:spcPts val="1850"/>
              </a:lnSpc>
              <a:spcBef>
                <a:spcPts val="65"/>
              </a:spcBef>
            </a:pPr>
            <a:r>
              <a:rPr dirty="0" sz="1400">
                <a:latin typeface="Times New Roman"/>
                <a:cs typeface="Times New Roman"/>
              </a:rPr>
              <a:t>Directory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listing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enabled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view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file </a:t>
            </a:r>
            <a:r>
              <a:rPr dirty="0" sz="1400">
                <a:latin typeface="Times New Roman"/>
                <a:cs typeface="Times New Roman"/>
              </a:rPr>
              <a:t>structure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files.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Solution:</a:t>
            </a: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45"/>
              </a:spcBef>
            </a:pPr>
            <a:r>
              <a:rPr dirty="0" sz="1400">
                <a:latin typeface="Times New Roman"/>
                <a:cs typeface="Times New Roman"/>
              </a:rPr>
              <a:t>Disable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directory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listing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server.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Business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Impact:</a:t>
            </a:r>
            <a:endParaRPr sz="1400">
              <a:latin typeface="Times New Roman"/>
              <a:cs typeface="Times New Roman"/>
            </a:endParaRPr>
          </a:p>
          <a:p>
            <a:pPr marL="469900" marR="8255">
              <a:lnSpc>
                <a:spcPts val="1850"/>
              </a:lnSpc>
              <a:spcBef>
                <a:spcPts val="65"/>
              </a:spcBef>
            </a:pP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could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obtain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2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files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1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about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 structure.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dirty="0" sz="2000" b="1">
                <a:latin typeface="Times New Roman"/>
                <a:cs typeface="Times New Roman"/>
              </a:rPr>
              <a:t>STAGE</a:t>
            </a:r>
            <a:r>
              <a:rPr dirty="0" sz="2000" spc="-90" b="1">
                <a:latin typeface="Times New Roman"/>
                <a:cs typeface="Times New Roman"/>
              </a:rPr>
              <a:t> </a:t>
            </a:r>
            <a:r>
              <a:rPr dirty="0" sz="2000" spc="-50" b="1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0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Report: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400">
              <a:latin typeface="Times New Roman"/>
              <a:cs typeface="Times New Roman"/>
            </a:endParaRPr>
          </a:p>
          <a:p>
            <a:pPr marL="469900" marR="10795">
              <a:lnSpc>
                <a:spcPct val="110000"/>
              </a:lnSpc>
            </a:pPr>
            <a:r>
              <a:rPr dirty="0" sz="1400">
                <a:latin typeface="Times New Roman"/>
                <a:cs typeface="Times New Roman"/>
              </a:rPr>
              <a:t>Title:</a:t>
            </a:r>
            <a:r>
              <a:rPr dirty="0" sz="1400" spc="3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Implementation</a:t>
            </a:r>
            <a:r>
              <a:rPr dirty="0" sz="1400" spc="4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4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Management</a:t>
            </a:r>
            <a:r>
              <a:rPr dirty="0" sz="1400" spc="4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3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4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3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4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 </a:t>
            </a:r>
            <a:r>
              <a:rPr dirty="0" sz="1400">
                <a:latin typeface="Times New Roman"/>
                <a:cs typeface="Times New Roman"/>
              </a:rPr>
              <a:t>(ZTNA)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Zscaler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1.</a:t>
            </a:r>
            <a:r>
              <a:rPr dirty="0" sz="1400" spc="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Introduction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469900" marR="5080">
              <a:lnSpc>
                <a:spcPct val="1105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organizations,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traditional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perimeter-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2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2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longer </a:t>
            </a:r>
            <a:r>
              <a:rPr dirty="0" sz="1400">
                <a:latin typeface="Times New Roman"/>
                <a:cs typeface="Times New Roman"/>
              </a:rPr>
              <a:t>sufficient.</a:t>
            </a:r>
            <a:r>
              <a:rPr dirty="0" sz="1400" spc="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Users,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devices,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</a:t>
            </a:r>
            <a:r>
              <a:rPr dirty="0" sz="1400" spc="1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longer</a:t>
            </a:r>
            <a:r>
              <a:rPr dirty="0" sz="1400" spc="1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automatically </a:t>
            </a:r>
            <a:r>
              <a:rPr dirty="0" sz="1400">
                <a:latin typeface="Times New Roman"/>
                <a:cs typeface="Times New Roman"/>
              </a:rPr>
              <a:t>trusted.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(ZTNA)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addresses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challenge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by </a:t>
            </a:r>
            <a:r>
              <a:rPr dirty="0" sz="1400">
                <a:latin typeface="Times New Roman"/>
                <a:cs typeface="Times New Roman"/>
              </a:rPr>
              <a:t>enforcing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principle: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“Never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Always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Verify.”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469900" marR="8255">
              <a:lnSpc>
                <a:spcPct val="110100"/>
              </a:lnSpc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</a:t>
            </a:r>
            <a:r>
              <a:rPr dirty="0" sz="1400" spc="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focuses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implementing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ZTNA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Access, </a:t>
            </a:r>
            <a:r>
              <a:rPr dirty="0" sz="1400">
                <a:latin typeface="Times New Roman"/>
                <a:cs typeface="Times New Roman"/>
              </a:rPr>
              <a:t>ensuring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 devices can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authorized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applications.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continuously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posture,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policies.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64158"/>
            <a:ext cx="5968365" cy="782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69900" marR="6985">
              <a:lnSpc>
                <a:spcPct val="11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Stage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3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explores</a:t>
            </a:r>
            <a:r>
              <a:rPr dirty="0" sz="1400" spc="1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Operations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Center</a:t>
            </a:r>
            <a:r>
              <a:rPr dirty="0" sz="1400" spc="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(SOC),</a:t>
            </a:r>
            <a:r>
              <a:rPr dirty="0" sz="1400" spc="1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integrated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with </a:t>
            </a:r>
            <a:r>
              <a:rPr dirty="0" sz="1400">
                <a:latin typeface="Times New Roman"/>
                <a:cs typeface="Times New Roman"/>
              </a:rPr>
              <a:t>SIEM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(QRadar)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3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intelligence</a:t>
            </a:r>
            <a:r>
              <a:rPr dirty="0" sz="1400" spc="2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(MISP),</a:t>
            </a:r>
            <a:r>
              <a:rPr dirty="0" sz="1400" spc="3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monitors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access,</a:t>
            </a:r>
            <a:r>
              <a:rPr dirty="0" sz="1400" spc="29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detects </a:t>
            </a:r>
            <a:r>
              <a:rPr dirty="0" sz="1400">
                <a:latin typeface="Times New Roman"/>
                <a:cs typeface="Times New Roman"/>
              </a:rPr>
              <a:t>anomalies,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responds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incidents.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4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buAutoNum type="arabicPeriod" startAt="2"/>
              <a:tabLst>
                <a:tab pos="191770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Security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Operations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Center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(SOC)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Font typeface="Times New Roman"/>
              <a:buAutoNum type="arabicPeriod" startAt="2"/>
            </a:pPr>
            <a:endParaRPr sz="1400">
              <a:latin typeface="Times New Roman"/>
              <a:cs typeface="Times New Roman"/>
            </a:endParaRPr>
          </a:p>
          <a:p>
            <a:pPr algn="just" marL="469900" marR="5080">
              <a:lnSpc>
                <a:spcPct val="110100"/>
              </a:lnSpc>
            </a:pP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centralized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team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monitors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protects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organization’s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IT </a:t>
            </a:r>
            <a:r>
              <a:rPr dirty="0" sz="1400">
                <a:latin typeface="Times New Roman"/>
                <a:cs typeface="Times New Roman"/>
              </a:rPr>
              <a:t>assets.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ZTNA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deployment,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ensures: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400">
              <a:latin typeface="Times New Roman"/>
              <a:cs typeface="Times New Roman"/>
            </a:endParaRPr>
          </a:p>
          <a:p>
            <a:pPr lvl="1" marL="927100" indent="-228600">
              <a:lnSpc>
                <a:spcPct val="100000"/>
              </a:lnSpc>
              <a:buFont typeface="Symbol"/>
              <a:buChar char=""/>
              <a:tabLst>
                <a:tab pos="927100" algn="l"/>
              </a:tabLst>
            </a:pPr>
            <a:r>
              <a:rPr dirty="0" sz="1400">
                <a:latin typeface="Times New Roman"/>
                <a:cs typeface="Times New Roman"/>
              </a:rPr>
              <a:t>Every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validated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before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permission.</a:t>
            </a:r>
            <a:endParaRPr sz="1400">
              <a:latin typeface="Times New Roman"/>
              <a:cs typeface="Times New Roman"/>
            </a:endParaRPr>
          </a:p>
          <a:p>
            <a:pPr lvl="1" marL="927100" indent="-228600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400" spc="-10">
                <a:latin typeface="Times New Roman"/>
                <a:cs typeface="Times New Roman"/>
              </a:rPr>
              <a:t>Real-</a:t>
            </a:r>
            <a:r>
              <a:rPr dirty="0" sz="1400">
                <a:latin typeface="Times New Roman"/>
                <a:cs typeface="Times New Roman"/>
              </a:rPr>
              <a:t>time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devices.</a:t>
            </a:r>
            <a:endParaRPr sz="1400">
              <a:latin typeface="Times New Roman"/>
              <a:cs typeface="Times New Roman"/>
            </a:endParaRPr>
          </a:p>
          <a:p>
            <a:pPr lvl="1" marL="927100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400">
                <a:latin typeface="Times New Roman"/>
                <a:cs typeface="Times New Roman"/>
              </a:rPr>
              <a:t>Rapid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detection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response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suspicious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events.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29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algn="just" marL="469900" marR="10160">
              <a:lnSpc>
                <a:spcPct val="110500"/>
              </a:lnSpc>
            </a:pP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3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analysts</a:t>
            </a:r>
            <a:r>
              <a:rPr dirty="0" sz="1400" spc="3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review</a:t>
            </a:r>
            <a:r>
              <a:rPr dirty="0" sz="1400" spc="3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alerts</a:t>
            </a:r>
            <a:r>
              <a:rPr dirty="0" sz="1400" spc="4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generated</a:t>
            </a:r>
            <a:r>
              <a:rPr dirty="0" sz="1400" spc="3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4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SIEM</a:t>
            </a:r>
            <a:r>
              <a:rPr dirty="0" sz="1400" spc="3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system,</a:t>
            </a:r>
            <a:r>
              <a:rPr dirty="0" sz="1400" spc="409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investigate </a:t>
            </a:r>
            <a:r>
              <a:rPr dirty="0" sz="1400">
                <a:latin typeface="Times New Roman"/>
                <a:cs typeface="Times New Roman"/>
              </a:rPr>
              <a:t>threats,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</a:t>
            </a:r>
            <a:r>
              <a:rPr dirty="0" sz="1400" spc="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remediation</a:t>
            </a:r>
            <a:r>
              <a:rPr dirty="0" sz="1400" spc="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steps.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acts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nerve</a:t>
            </a:r>
            <a:r>
              <a:rPr dirty="0" sz="1400" spc="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center </a:t>
            </a:r>
            <a:r>
              <a:rPr dirty="0" sz="1400">
                <a:latin typeface="Times New Roman"/>
                <a:cs typeface="Times New Roman"/>
              </a:rPr>
              <a:t>of network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security,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particularly</a:t>
            </a:r>
            <a:r>
              <a:rPr dirty="0" sz="1400" spc="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environment</a:t>
            </a:r>
            <a:r>
              <a:rPr dirty="0" sz="1400" spc="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where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internal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cannot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bypass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policies.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buAutoNum type="arabicPeriod" startAt="3"/>
              <a:tabLst>
                <a:tab pos="191770" algn="l"/>
              </a:tabLst>
            </a:pPr>
            <a:r>
              <a:rPr dirty="0" sz="1400" b="1">
                <a:latin typeface="Times New Roman"/>
                <a:cs typeface="Times New Roman"/>
              </a:rPr>
              <a:t>SOC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Cycle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400">
              <a:latin typeface="Times New Roman"/>
              <a:cs typeface="Times New Roman"/>
            </a:endParaRPr>
          </a:p>
          <a:p>
            <a:pPr marL="283845" marR="13335">
              <a:lnSpc>
                <a:spcPct val="1100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2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cycle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defines</a:t>
            </a:r>
            <a:r>
              <a:rPr dirty="0" sz="1400" spc="3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2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teams</a:t>
            </a:r>
            <a:r>
              <a:rPr dirty="0" sz="1400" spc="3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threats</a:t>
            </a:r>
            <a:r>
              <a:rPr dirty="0" sz="1400" spc="29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systematically. </a:t>
            </a:r>
            <a:r>
              <a:rPr dirty="0" sz="1400">
                <a:latin typeface="Times New Roman"/>
                <a:cs typeface="Times New Roman"/>
              </a:rPr>
              <a:t>Stages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include: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400">
              <a:latin typeface="Times New Roman"/>
              <a:cs typeface="Times New Roman"/>
            </a:endParaRPr>
          </a:p>
          <a:p>
            <a:pPr marL="698500" marR="12065" indent="-228600">
              <a:lnSpc>
                <a:spcPct val="110000"/>
              </a:lnSpc>
              <a:buAutoNum type="arabicPeriod"/>
              <a:tabLst>
                <a:tab pos="698500" algn="l"/>
              </a:tabLst>
            </a:pPr>
            <a:r>
              <a:rPr dirty="0" sz="1400">
                <a:latin typeface="Times New Roman"/>
                <a:cs typeface="Times New Roman"/>
              </a:rPr>
              <a:t>Monitoring: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Collect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logs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traffic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2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Zscaler,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endpoints,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 spc="-10">
                <a:latin typeface="Times New Roman"/>
                <a:cs typeface="Times New Roman"/>
              </a:rPr>
              <a:t>applications.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698500" marR="8890" indent="-228600">
              <a:lnSpc>
                <a:spcPct val="110000"/>
              </a:lnSpc>
              <a:buAutoNum type="arabicPeriod"/>
              <a:tabLst>
                <a:tab pos="698500" algn="l"/>
              </a:tabLst>
            </a:pPr>
            <a:r>
              <a:rPr dirty="0" sz="1400">
                <a:latin typeface="Times New Roman"/>
                <a:cs typeface="Times New Roman"/>
              </a:rPr>
              <a:t>Detection: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anomalies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failed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login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attempts</a:t>
            </a:r>
            <a:r>
              <a:rPr dirty="0" sz="1400" spc="2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unusual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behavior.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697865" indent="-227965">
              <a:lnSpc>
                <a:spcPct val="100000"/>
              </a:lnSpc>
              <a:buAutoNum type="arabicPeriod"/>
              <a:tabLst>
                <a:tab pos="697865" algn="l"/>
              </a:tabLst>
            </a:pPr>
            <a:r>
              <a:rPr dirty="0" sz="1400" spc="-10">
                <a:latin typeface="Times New Roman"/>
                <a:cs typeface="Times New Roman"/>
              </a:rPr>
              <a:t>Analysis: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Correlate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events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confirm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incidents.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698500" marR="11430" indent="-228600">
              <a:lnSpc>
                <a:spcPct val="110000"/>
              </a:lnSpc>
              <a:buAutoNum type="arabicPeriod"/>
              <a:tabLst>
                <a:tab pos="698500" algn="l"/>
              </a:tabLst>
            </a:pPr>
            <a:r>
              <a:rPr dirty="0" sz="1400">
                <a:latin typeface="Times New Roman"/>
                <a:cs typeface="Times New Roman"/>
              </a:rPr>
              <a:t>Response: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Take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immediate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action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block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isolate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risky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or </a:t>
            </a:r>
            <a:r>
              <a:rPr dirty="0" sz="1400" spc="-10">
                <a:latin typeface="Times New Roman"/>
                <a:cs typeface="Times New Roman"/>
              </a:rPr>
              <a:t>users.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64158"/>
            <a:ext cx="5967095" cy="7827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8500" marR="11430" indent="-228600">
              <a:lnSpc>
                <a:spcPct val="110000"/>
              </a:lnSpc>
              <a:spcBef>
                <a:spcPts val="100"/>
              </a:spcBef>
              <a:tabLst>
                <a:tab pos="1630045" algn="l"/>
                <a:tab pos="2550160" algn="l"/>
                <a:tab pos="3366135" algn="l"/>
                <a:tab pos="3747135" algn="l"/>
                <a:tab pos="4739005" algn="l"/>
                <a:tab pos="5168900" algn="l"/>
              </a:tabLst>
            </a:pPr>
            <a:r>
              <a:rPr dirty="0" sz="1400">
                <a:latin typeface="Times New Roman"/>
                <a:cs typeface="Times New Roman"/>
              </a:rPr>
              <a:t>5.</a:t>
            </a:r>
            <a:r>
              <a:rPr dirty="0" sz="1400" spc="39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Reporting: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Document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incidents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25">
                <a:latin typeface="Times New Roman"/>
                <a:cs typeface="Times New Roman"/>
              </a:rPr>
              <a:t>for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compliance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25">
                <a:latin typeface="Times New Roman"/>
                <a:cs typeface="Times New Roman"/>
              </a:rPr>
              <a:t>and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continuous improvement.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469900" marR="5080">
              <a:lnSpc>
                <a:spcPct val="1100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Understanding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cycle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enforce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proactive </a:t>
            </a:r>
            <a:r>
              <a:rPr dirty="0" sz="1400" spc="-10">
                <a:latin typeface="Times New Roman"/>
                <a:cs typeface="Times New Roman"/>
              </a:rPr>
              <a:t>security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maintain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posture.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buAutoNum type="arabicPeriod" startAt="4"/>
              <a:tabLst>
                <a:tab pos="191770" algn="l"/>
              </a:tabLst>
            </a:pPr>
            <a:r>
              <a:rPr dirty="0" sz="1400" b="1">
                <a:latin typeface="Times New Roman"/>
                <a:cs typeface="Times New Roman"/>
              </a:rPr>
              <a:t>SIEM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6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QRadar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Times New Roman"/>
              <a:buAutoNum type="arabicPeriod" startAt="4"/>
            </a:pPr>
            <a:endParaRPr sz="1400">
              <a:latin typeface="Times New Roman"/>
              <a:cs typeface="Times New Roman"/>
            </a:endParaRPr>
          </a:p>
          <a:p>
            <a:pPr algn="just" marL="469900" marR="5080">
              <a:lnSpc>
                <a:spcPct val="1107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SIEM</a:t>
            </a:r>
            <a:r>
              <a:rPr dirty="0" sz="1400" spc="3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(Security</a:t>
            </a:r>
            <a:r>
              <a:rPr dirty="0" sz="1400" spc="2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2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Event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Management)</a:t>
            </a:r>
            <a:r>
              <a:rPr dirty="0" sz="1400" spc="3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collects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logs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from </a:t>
            </a:r>
            <a:r>
              <a:rPr dirty="0" sz="1400">
                <a:latin typeface="Times New Roman"/>
                <a:cs typeface="Times New Roman"/>
              </a:rPr>
              <a:t>endpoints,</a:t>
            </a:r>
            <a:r>
              <a:rPr dirty="0" sz="1400" spc="3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servers,</a:t>
            </a:r>
            <a:r>
              <a:rPr dirty="0" sz="1400" spc="3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3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ZTNA</a:t>
            </a:r>
            <a:r>
              <a:rPr dirty="0" sz="1400" spc="3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solutions,</a:t>
            </a:r>
            <a:r>
              <a:rPr dirty="0" sz="1400" spc="3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normalizes</a:t>
            </a:r>
            <a:r>
              <a:rPr dirty="0" sz="1400" spc="3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data,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3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identifies </a:t>
            </a:r>
            <a:r>
              <a:rPr dirty="0" sz="1400">
                <a:latin typeface="Times New Roman"/>
                <a:cs typeface="Times New Roman"/>
              </a:rPr>
              <a:t>threats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through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correlation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alerts.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469900" marR="11430">
              <a:lnSpc>
                <a:spcPct val="110000"/>
              </a:lnSpc>
            </a:pPr>
            <a:r>
              <a:rPr dirty="0" sz="1400">
                <a:latin typeface="Times New Roman"/>
                <a:cs typeface="Times New Roman"/>
              </a:rPr>
              <a:t>IBM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QRadar</a:t>
            </a:r>
            <a:r>
              <a:rPr dirty="0" sz="1400" spc="2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SIEM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visualize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alerts,</a:t>
            </a:r>
            <a:r>
              <a:rPr dirty="0" sz="1400" spc="2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analyze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suspicious </a:t>
            </a:r>
            <a:r>
              <a:rPr dirty="0" sz="1400">
                <a:latin typeface="Times New Roman"/>
                <a:cs typeface="Times New Roman"/>
              </a:rPr>
              <a:t>activity,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automate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responses.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QRadar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integrates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logs</a:t>
            </a:r>
            <a:r>
              <a:rPr dirty="0" sz="1400" spc="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provide </a:t>
            </a:r>
            <a:r>
              <a:rPr dirty="0" sz="1400">
                <a:latin typeface="Times New Roman"/>
                <a:cs typeface="Times New Roman"/>
              </a:rPr>
              <a:t>insights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as: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400">
              <a:latin typeface="Times New Roman"/>
              <a:cs typeface="Times New Roman"/>
            </a:endParaRPr>
          </a:p>
          <a:p>
            <a:pPr lvl="1" marL="11557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1155700" algn="l"/>
              </a:tabLst>
            </a:pPr>
            <a:r>
              <a:rPr dirty="0" sz="1400" spc="-10">
                <a:latin typeface="Times New Roman"/>
                <a:cs typeface="Times New Roman"/>
              </a:rPr>
              <a:t>Unauthorized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attempts</a:t>
            </a:r>
            <a:endParaRPr sz="1400">
              <a:latin typeface="Times New Roman"/>
              <a:cs typeface="Times New Roman"/>
            </a:endParaRPr>
          </a:p>
          <a:p>
            <a:pPr lvl="1" marL="1155700" indent="-228600">
              <a:lnSpc>
                <a:spcPct val="100000"/>
              </a:lnSpc>
              <a:spcBef>
                <a:spcPts val="285"/>
              </a:spcBef>
              <a:buFont typeface="Symbol"/>
              <a:buChar char=""/>
              <a:tabLst>
                <a:tab pos="1155700" algn="l"/>
              </a:tabLst>
            </a:pPr>
            <a:r>
              <a:rPr dirty="0" sz="1400">
                <a:latin typeface="Times New Roman"/>
                <a:cs typeface="Times New Roman"/>
              </a:rPr>
              <a:t>Policy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violations</a:t>
            </a:r>
            <a:endParaRPr sz="1400">
              <a:latin typeface="Times New Roman"/>
              <a:cs typeface="Times New Roman"/>
            </a:endParaRPr>
          </a:p>
          <a:p>
            <a:pPr lvl="1" marL="1155700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1155700" algn="l"/>
              </a:tabLst>
            </a:pP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compliance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issues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0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algn="just" marL="469900" marR="8255">
              <a:lnSpc>
                <a:spcPct val="110000"/>
              </a:lnSpc>
            </a:pP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ZTNA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activity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through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QRadar,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 SOC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potential </a:t>
            </a:r>
            <a:r>
              <a:rPr dirty="0" sz="1400">
                <a:latin typeface="Times New Roman"/>
                <a:cs typeface="Times New Roman"/>
              </a:rPr>
              <a:t>threats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before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impact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4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buAutoNum type="arabicPeriod" startAt="5"/>
              <a:tabLst>
                <a:tab pos="191770" algn="l"/>
              </a:tabLst>
            </a:pPr>
            <a:r>
              <a:rPr dirty="0" sz="1400" b="1">
                <a:latin typeface="Times New Roman"/>
                <a:cs typeface="Times New Roman"/>
              </a:rPr>
              <a:t>Threat</a:t>
            </a:r>
            <a:r>
              <a:rPr dirty="0" sz="1400" spc="-8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Intelligence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  <a:buFont typeface="Times New Roman"/>
              <a:buAutoNum type="arabicPeriod" startAt="5"/>
            </a:pPr>
            <a:endParaRPr sz="1400">
              <a:latin typeface="Times New Roman"/>
              <a:cs typeface="Times New Roman"/>
            </a:endParaRPr>
          </a:p>
          <a:p>
            <a:pPr algn="just" marL="469900" marR="7620">
              <a:lnSpc>
                <a:spcPct val="110500"/>
              </a:lnSpc>
            </a:pP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3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intelligence</a:t>
            </a:r>
            <a:r>
              <a:rPr dirty="0" sz="1400" spc="3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feeds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(like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MISP)</a:t>
            </a:r>
            <a:r>
              <a:rPr dirty="0" sz="1400" spc="3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provide</a:t>
            </a:r>
            <a:r>
              <a:rPr dirty="0" sz="1400" spc="3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3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about</a:t>
            </a:r>
            <a:r>
              <a:rPr dirty="0" sz="1400" spc="3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known </a:t>
            </a:r>
            <a:r>
              <a:rPr dirty="0" sz="1400">
                <a:latin typeface="Times New Roman"/>
                <a:cs typeface="Times New Roman"/>
              </a:rPr>
              <a:t>malicious</a:t>
            </a:r>
            <a:r>
              <a:rPr dirty="0" sz="1400" spc="4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IP</a:t>
            </a:r>
            <a:r>
              <a:rPr dirty="0" sz="1400" spc="4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addresses,</a:t>
            </a:r>
            <a:r>
              <a:rPr dirty="0" sz="1400" spc="48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compromised</a:t>
            </a:r>
            <a:r>
              <a:rPr dirty="0" sz="1400" spc="45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credentials,</a:t>
            </a:r>
            <a:r>
              <a:rPr dirty="0" sz="1400" spc="4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45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emerging</a:t>
            </a:r>
            <a:r>
              <a:rPr dirty="0" sz="1400" spc="434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attack </a:t>
            </a:r>
            <a:r>
              <a:rPr dirty="0" sz="1400">
                <a:latin typeface="Times New Roman"/>
                <a:cs typeface="Times New Roman"/>
              </a:rPr>
              <a:t>patterns.</a:t>
            </a:r>
            <a:r>
              <a:rPr dirty="0" sz="1400" spc="4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Integrating</a:t>
            </a:r>
            <a:r>
              <a:rPr dirty="0" sz="1400" spc="3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4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intelligence</a:t>
            </a:r>
            <a:r>
              <a:rPr dirty="0" sz="1400" spc="40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3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ZTNA</a:t>
            </a:r>
            <a:r>
              <a:rPr dirty="0" sz="1400" spc="3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allows</a:t>
            </a:r>
            <a:r>
              <a:rPr dirty="0" sz="1400" spc="4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40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41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>
                <a:latin typeface="Times New Roman"/>
                <a:cs typeface="Times New Roman"/>
              </a:rPr>
              <a:t>update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real-</a:t>
            </a:r>
            <a:r>
              <a:rPr dirty="0" sz="1400">
                <a:latin typeface="Times New Roman"/>
                <a:cs typeface="Times New Roman"/>
              </a:rPr>
              <a:t>time,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proactive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protection.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buAutoNum type="arabicPeriod" startAt="6"/>
              <a:tabLst>
                <a:tab pos="191770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Incident Response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6713"/>
            <a:ext cx="5960110" cy="79089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83845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latin typeface="Times New Roman"/>
                <a:cs typeface="Times New Roman"/>
              </a:rPr>
              <a:t>Incident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response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ZTNA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environment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includes: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400">
              <a:latin typeface="Times New Roman"/>
              <a:cs typeface="Times New Roman"/>
            </a:endParaRPr>
          </a:p>
          <a:p>
            <a:pPr marL="11557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1155700" algn="l"/>
              </a:tabLst>
            </a:pPr>
            <a:r>
              <a:rPr dirty="0" sz="1400">
                <a:latin typeface="Times New Roman"/>
                <a:cs typeface="Times New Roman"/>
              </a:rPr>
              <a:t>Detecting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attempts</a:t>
            </a:r>
            <a:endParaRPr sz="1400">
              <a:latin typeface="Times New Roman"/>
              <a:cs typeface="Times New Roman"/>
            </a:endParaRPr>
          </a:p>
          <a:p>
            <a:pPr marL="1155700" indent="-228600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1155700" algn="l"/>
              </a:tabLst>
            </a:pPr>
            <a:r>
              <a:rPr dirty="0" sz="1400">
                <a:latin typeface="Times New Roman"/>
                <a:cs typeface="Times New Roman"/>
              </a:rPr>
              <a:t>Blocking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non-</a:t>
            </a:r>
            <a:r>
              <a:rPr dirty="0" sz="1400">
                <a:latin typeface="Times New Roman"/>
                <a:cs typeface="Times New Roman"/>
              </a:rPr>
              <a:t>compliant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immediately</a:t>
            </a:r>
            <a:endParaRPr sz="1400">
              <a:latin typeface="Times New Roman"/>
              <a:cs typeface="Times New Roman"/>
            </a:endParaRPr>
          </a:p>
          <a:p>
            <a:pPr marL="1155700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1155700" algn="l"/>
              </a:tabLst>
            </a:pPr>
            <a:r>
              <a:rPr dirty="0" sz="1400">
                <a:latin typeface="Times New Roman"/>
                <a:cs typeface="Times New Roman"/>
              </a:rPr>
              <a:t>Reviewing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alerts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QRadar</a:t>
            </a:r>
            <a:endParaRPr sz="1400">
              <a:latin typeface="Times New Roman"/>
              <a:cs typeface="Times New Roman"/>
            </a:endParaRPr>
          </a:p>
          <a:p>
            <a:pPr marL="1155700" indent="-228600">
              <a:lnSpc>
                <a:spcPct val="100000"/>
              </a:lnSpc>
              <a:spcBef>
                <a:spcPts val="260"/>
              </a:spcBef>
              <a:buFont typeface="Symbol"/>
              <a:buChar char=""/>
              <a:tabLst>
                <a:tab pos="1155700" algn="l"/>
              </a:tabLst>
            </a:pPr>
            <a:r>
              <a:rPr dirty="0" sz="1400" spc="-10">
                <a:latin typeface="Times New Roman"/>
                <a:cs typeface="Times New Roman"/>
              </a:rPr>
              <a:t>Documenting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actions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future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improvements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400">
              <a:latin typeface="Times New Roman"/>
              <a:cs typeface="Times New Roman"/>
            </a:endParaRPr>
          </a:p>
          <a:p>
            <a:pPr marL="469900" marR="5080">
              <a:lnSpc>
                <a:spcPct val="110000"/>
              </a:lnSpc>
              <a:tabLst>
                <a:tab pos="911225" algn="l"/>
                <a:tab pos="1748789" algn="l"/>
                <a:tab pos="2567940" algn="l"/>
                <a:tab pos="3228975" algn="l"/>
                <a:tab pos="3575685" algn="l"/>
                <a:tab pos="4281805" algn="l"/>
                <a:tab pos="4973320" algn="l"/>
                <a:tab pos="5554980" algn="l"/>
              </a:tabLst>
            </a:pPr>
            <a:r>
              <a:rPr dirty="0" sz="1400" spc="-20">
                <a:latin typeface="Times New Roman"/>
                <a:cs typeface="Times New Roman"/>
              </a:rPr>
              <a:t>This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structured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workflow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ensures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25">
                <a:latin typeface="Times New Roman"/>
                <a:cs typeface="Times New Roman"/>
              </a:rPr>
              <a:t>the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network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remains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secure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20">
                <a:latin typeface="Times New Roman"/>
                <a:cs typeface="Times New Roman"/>
              </a:rPr>
              <a:t>while </a:t>
            </a:r>
            <a:r>
              <a:rPr dirty="0" sz="1400">
                <a:latin typeface="Times New Roman"/>
                <a:cs typeface="Times New Roman"/>
              </a:rPr>
              <a:t>minimizing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operational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disruption.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buAutoNum type="arabicPeriod" startAt="7"/>
              <a:tabLst>
                <a:tab pos="191770" algn="l"/>
              </a:tabLst>
            </a:pPr>
            <a:r>
              <a:rPr dirty="0" sz="1400" b="1">
                <a:latin typeface="Times New Roman"/>
                <a:cs typeface="Times New Roman"/>
              </a:rPr>
              <a:t>College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Network</a:t>
            </a:r>
            <a:r>
              <a:rPr dirty="0" sz="1400" spc="-8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Deployment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Times New Roman"/>
              <a:buAutoNum type="arabicPeriod" startAt="7"/>
            </a:pP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Our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college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includes:</a:t>
            </a:r>
            <a:endParaRPr sz="1400">
              <a:latin typeface="Times New Roman"/>
              <a:cs typeface="Times New Roman"/>
            </a:endParaRPr>
          </a:p>
          <a:p>
            <a:pPr lvl="1" marL="927100" indent="-228600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400">
                <a:latin typeface="Times New Roman"/>
                <a:cs typeface="Times New Roman"/>
              </a:rPr>
              <a:t>Servers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hosting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student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faculty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</a:t>
            </a:r>
            <a:endParaRPr sz="1400">
              <a:latin typeface="Times New Roman"/>
              <a:cs typeface="Times New Roman"/>
            </a:endParaRPr>
          </a:p>
          <a:p>
            <a:pPr lvl="1" marL="927100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400" spc="-10">
                <a:latin typeface="Times New Roman"/>
                <a:cs typeface="Times New Roman"/>
              </a:rPr>
              <a:t>Wi-</a:t>
            </a:r>
            <a:r>
              <a:rPr dirty="0" sz="1400">
                <a:latin typeface="Times New Roman"/>
                <a:cs typeface="Times New Roman"/>
              </a:rPr>
              <a:t>Fi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points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staff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students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0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lvl="1" marL="927100" indent="-228600">
              <a:lnSpc>
                <a:spcPct val="100000"/>
              </a:lnSpc>
              <a:buFont typeface="Symbol"/>
              <a:buChar char=""/>
              <a:tabLst>
                <a:tab pos="927100" algn="l"/>
              </a:tabLst>
            </a:pPr>
            <a:r>
              <a:rPr dirty="0" sz="1400">
                <a:latin typeface="Times New Roman"/>
                <a:cs typeface="Times New Roman"/>
              </a:rPr>
              <a:t>Endpoints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including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laptops,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desktops,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lab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machines</a:t>
            </a:r>
            <a:endParaRPr sz="1400">
              <a:latin typeface="Times New Roman"/>
              <a:cs typeface="Times New Roman"/>
            </a:endParaRPr>
          </a:p>
          <a:p>
            <a:pPr lvl="1" marL="927100" indent="-228600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400">
                <a:latin typeface="Times New Roman"/>
                <a:cs typeface="Times New Roman"/>
              </a:rPr>
              <a:t>Firewall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appliances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670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ZTNA</a:t>
            </a:r>
            <a:r>
              <a:rPr dirty="0" sz="1400" spc="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implementation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ensures: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400">
              <a:latin typeface="Times New Roman"/>
              <a:cs typeface="Times New Roman"/>
            </a:endParaRPr>
          </a:p>
          <a:p>
            <a:pPr lvl="1" marL="9271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authorized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</a:t>
            </a:r>
            <a:endParaRPr sz="1400">
              <a:latin typeface="Times New Roman"/>
              <a:cs typeface="Times New Roman"/>
            </a:endParaRPr>
          </a:p>
          <a:p>
            <a:pPr lvl="1" marL="927100" indent="-228600">
              <a:lnSpc>
                <a:spcPct val="100000"/>
              </a:lnSpc>
              <a:spcBef>
                <a:spcPts val="260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400">
                <a:latin typeface="Times New Roman"/>
                <a:cs typeface="Times New Roman"/>
              </a:rPr>
              <a:t>Internal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remains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invisible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users</a:t>
            </a:r>
            <a:endParaRPr sz="1400">
              <a:latin typeface="Times New Roman"/>
              <a:cs typeface="Times New Roman"/>
            </a:endParaRPr>
          </a:p>
          <a:p>
            <a:pPr lvl="1" marL="927100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927100" algn="l"/>
              </a:tabLst>
            </a:pP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threats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55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5"/>
              </a:spcBef>
              <a:buAutoNum type="arabicPeriod" startAt="8"/>
              <a:tabLst>
                <a:tab pos="191770" algn="l"/>
              </a:tabLst>
            </a:pPr>
            <a:r>
              <a:rPr dirty="0" sz="1400" b="1">
                <a:latin typeface="Times New Roman"/>
                <a:cs typeface="Times New Roman"/>
              </a:rPr>
              <a:t>Use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Case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Scenarios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Scenario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1: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Secure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Remote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for Faculty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to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ERP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System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Output: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verified,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compliant,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micro-</a:t>
            </a:r>
            <a:r>
              <a:rPr dirty="0" sz="1400">
                <a:latin typeface="Times New Roman"/>
                <a:cs typeface="Times New Roman"/>
              </a:rPr>
              <a:t>tunnel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ERP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only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Scenario</a:t>
            </a:r>
            <a:r>
              <a:rPr dirty="0" sz="1400" spc="-6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2: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Secure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for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Students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to</a:t>
            </a:r>
            <a:r>
              <a:rPr dirty="0" sz="1400" spc="-6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LMS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6713"/>
            <a:ext cx="5966460" cy="8000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9271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latin typeface="Times New Roman"/>
                <a:cs typeface="Times New Roman"/>
              </a:rPr>
              <a:t>Output: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verified,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compliant,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micro-</a:t>
            </a:r>
            <a:r>
              <a:rPr dirty="0" sz="1400">
                <a:latin typeface="Times New Roman"/>
                <a:cs typeface="Times New Roman"/>
              </a:rPr>
              <a:t>tunnel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LMS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only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Scenario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3: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Secure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Lab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for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IT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Staff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400">
              <a:latin typeface="Times New Roman"/>
              <a:cs typeface="Times New Roman"/>
            </a:endParaRPr>
          </a:p>
          <a:p>
            <a:pPr marL="927100" marR="5080">
              <a:lnSpc>
                <a:spcPct val="110000"/>
              </a:lnSpc>
            </a:pPr>
            <a:r>
              <a:rPr dirty="0" sz="1400">
                <a:latin typeface="Times New Roman"/>
                <a:cs typeface="Times New Roman"/>
              </a:rPr>
              <a:t>Output: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verified,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compliant,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time-</a:t>
            </a:r>
            <a:r>
              <a:rPr dirty="0" sz="1400">
                <a:latin typeface="Times New Roman"/>
                <a:cs typeface="Times New Roman"/>
              </a:rPr>
              <a:t>bound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micro-</a:t>
            </a:r>
            <a:r>
              <a:rPr dirty="0" sz="1400" spc="-10">
                <a:latin typeface="Times New Roman"/>
                <a:cs typeface="Times New Roman"/>
              </a:rPr>
              <a:t>tunnel, </a:t>
            </a:r>
            <a:r>
              <a:rPr dirty="0" sz="1400">
                <a:latin typeface="Times New Roman"/>
                <a:cs typeface="Times New Roman"/>
              </a:rPr>
              <a:t>SOC </a:t>
            </a:r>
            <a:r>
              <a:rPr dirty="0" sz="1400" spc="-10">
                <a:latin typeface="Times New Roman"/>
                <a:cs typeface="Times New Roman"/>
              </a:rPr>
              <a:t>monitoring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Scenario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4: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Block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Unauthorized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Access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Output: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denied,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alert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triggered,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remains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protected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Scenario</a:t>
            </a:r>
            <a:r>
              <a:rPr dirty="0" sz="1400" spc="-6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5: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Temporary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for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External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Auditors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400">
              <a:latin typeface="Times New Roman"/>
              <a:cs typeface="Times New Roman"/>
            </a:endParaRPr>
          </a:p>
          <a:p>
            <a:pPr marL="927100" marR="5080">
              <a:lnSpc>
                <a:spcPct val="110000"/>
              </a:lnSpc>
            </a:pPr>
            <a:r>
              <a:rPr dirty="0" sz="1400">
                <a:latin typeface="Times New Roman"/>
                <a:cs typeface="Times New Roman"/>
              </a:rPr>
              <a:t>Output:</a:t>
            </a:r>
            <a:r>
              <a:rPr dirty="0" sz="1400" spc="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verified,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compliant,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temporary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micro-tunnel, automatic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revocation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4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buAutoNum type="arabicPeriod" startAt="9"/>
              <a:tabLst>
                <a:tab pos="191770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Conclusion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Font typeface="Times New Roman"/>
              <a:buAutoNum type="arabicPeriod" startAt="9"/>
            </a:pPr>
            <a:endParaRPr sz="1400">
              <a:latin typeface="Times New Roman"/>
              <a:cs typeface="Times New Roman"/>
            </a:endParaRPr>
          </a:p>
          <a:p>
            <a:pPr algn="just" marL="469900" marR="10160">
              <a:lnSpc>
                <a:spcPct val="11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20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1:</a:t>
            </a:r>
            <a:r>
              <a:rPr dirty="0" sz="1400" spc="19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2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testing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highlights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2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importance</a:t>
            </a:r>
            <a:r>
              <a:rPr dirty="0" sz="1400" spc="2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identifying vulnerabilities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before </a:t>
            </a:r>
            <a:r>
              <a:rPr dirty="0" sz="1400" spc="-10">
                <a:latin typeface="Times New Roman"/>
                <a:cs typeface="Times New Roman"/>
              </a:rPr>
              <a:t>exploitation.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469900" marR="7620">
              <a:lnSpc>
                <a:spcPct val="11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20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2:</a:t>
            </a:r>
            <a:r>
              <a:rPr dirty="0" sz="1400" spc="20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Nessus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assessments</a:t>
            </a:r>
            <a:r>
              <a:rPr dirty="0" sz="1400" spc="2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teach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detect,</a:t>
            </a:r>
            <a:r>
              <a:rPr dirty="0" sz="1400" spc="2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prioritize,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remediate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risks.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469900" marR="5715">
              <a:lnSpc>
                <a:spcPct val="110800"/>
              </a:lnSpc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2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3:</a:t>
            </a:r>
            <a:r>
              <a:rPr dirty="0" sz="1400" spc="23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SOC/SEIM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ZTNA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shows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real-</a:t>
            </a:r>
            <a:r>
              <a:rPr dirty="0" sz="1400">
                <a:latin typeface="Times New Roman"/>
                <a:cs typeface="Times New Roman"/>
              </a:rPr>
              <a:t>time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monitoring,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threat </a:t>
            </a:r>
            <a:r>
              <a:rPr dirty="0" sz="1400">
                <a:latin typeface="Times New Roman"/>
                <a:cs typeface="Times New Roman"/>
              </a:rPr>
              <a:t>intelligence,</a:t>
            </a:r>
            <a:r>
              <a:rPr dirty="0" sz="1400" spc="35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34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structured</a:t>
            </a:r>
            <a:r>
              <a:rPr dirty="0" sz="1400" spc="36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incident</a:t>
            </a:r>
            <a:r>
              <a:rPr dirty="0" sz="1400" spc="35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response</a:t>
            </a:r>
            <a:r>
              <a:rPr dirty="0" sz="1400" spc="36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maintain</a:t>
            </a:r>
            <a:r>
              <a:rPr dirty="0" sz="1400" spc="33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350">
                <a:latin typeface="Times New Roman"/>
                <a:cs typeface="Times New Roman"/>
              </a:rPr>
              <a:t>  </a:t>
            </a:r>
            <a:r>
              <a:rPr dirty="0" sz="1400" spc="-10">
                <a:latin typeface="Times New Roman"/>
                <a:cs typeface="Times New Roman"/>
              </a:rPr>
              <a:t>secure environment.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280670" indent="-267970">
              <a:lnSpc>
                <a:spcPct val="100000"/>
              </a:lnSpc>
              <a:spcBef>
                <a:spcPts val="5"/>
              </a:spcBef>
              <a:buAutoNum type="arabicPeriod" startAt="10"/>
              <a:tabLst>
                <a:tab pos="280670" algn="l"/>
              </a:tabLst>
            </a:pPr>
            <a:r>
              <a:rPr dirty="0" sz="1400" b="1">
                <a:latin typeface="Times New Roman"/>
                <a:cs typeface="Times New Roman"/>
              </a:rPr>
              <a:t>Future</a:t>
            </a:r>
            <a:r>
              <a:rPr dirty="0" sz="1400" spc="-8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Scope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1:</a:t>
            </a:r>
            <a:r>
              <a:rPr dirty="0" sz="1400" spc="10" b="1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AI-</a:t>
            </a:r>
            <a:r>
              <a:rPr dirty="0" sz="1400">
                <a:latin typeface="Times New Roman"/>
                <a:cs typeface="Times New Roman"/>
              </a:rPr>
              <a:t>driven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10">
                <a:latin typeface="Times New Roman"/>
                <a:cs typeface="Times New Roman"/>
              </a:rPr>
              <a:t> application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testing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faster</a:t>
            </a:r>
            <a:r>
              <a:rPr dirty="0" sz="1400" spc="-10">
                <a:latin typeface="Times New Roman"/>
                <a:cs typeface="Times New Roman"/>
              </a:rPr>
              <a:t> detection.</a:t>
            </a: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70"/>
              </a:spcBef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2: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Continuous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vulnerability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automated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remediation.</a:t>
            </a:r>
            <a:endParaRPr sz="1400">
              <a:latin typeface="Times New Roman"/>
              <a:cs typeface="Times New Roman"/>
            </a:endParaRPr>
          </a:p>
          <a:p>
            <a:pPr marL="469900" marR="6350">
              <a:lnSpc>
                <a:spcPts val="1870"/>
              </a:lnSpc>
              <a:spcBef>
                <a:spcPts val="70"/>
              </a:spcBef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19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3:</a:t>
            </a:r>
            <a:r>
              <a:rPr dirty="0" sz="1400" spc="20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Advanced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2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capabilities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AI</a:t>
            </a:r>
            <a:r>
              <a:rPr dirty="0" sz="1400" spc="1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automation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ZTNA </a:t>
            </a:r>
            <a:r>
              <a:rPr dirty="0" sz="1400" spc="-10">
                <a:latin typeface="Times New Roman"/>
                <a:cs typeface="Times New Roman"/>
              </a:rPr>
              <a:t>enforcement,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cloud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integration,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predictive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intelligence.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9761"/>
            <a:ext cx="3999229" cy="1957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80670" indent="-267970">
              <a:lnSpc>
                <a:spcPct val="100000"/>
              </a:lnSpc>
              <a:spcBef>
                <a:spcPts val="90"/>
              </a:spcBef>
              <a:buAutoNum type="arabicPeriod" startAt="11"/>
              <a:tabLst>
                <a:tab pos="280670" algn="l"/>
              </a:tabLst>
            </a:pPr>
            <a:r>
              <a:rPr dirty="0" sz="1400" b="1">
                <a:latin typeface="Times New Roman"/>
                <a:cs typeface="Times New Roman"/>
              </a:rPr>
              <a:t>Topics</a:t>
            </a:r>
            <a:r>
              <a:rPr dirty="0" sz="1400" spc="-7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Explored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Font typeface="Times New Roman"/>
              <a:buAutoNum type="arabicPeriod" startAt="11"/>
            </a:pPr>
            <a:endParaRPr sz="1400">
              <a:latin typeface="Times New Roman"/>
              <a:cs typeface="Times New Roman"/>
            </a:endParaRPr>
          </a:p>
          <a:p>
            <a:pPr lvl="1" marL="1384300" indent="-228600">
              <a:lnSpc>
                <a:spcPct val="100000"/>
              </a:lnSpc>
              <a:buFont typeface="Symbol"/>
              <a:buChar char=""/>
              <a:tabLst>
                <a:tab pos="1384300" algn="l"/>
              </a:tabLst>
            </a:pP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Cycle</a:t>
            </a:r>
            <a:endParaRPr sz="1400">
              <a:latin typeface="Times New Roman"/>
              <a:cs typeface="Times New Roman"/>
            </a:endParaRPr>
          </a:p>
          <a:p>
            <a:pPr lvl="1" marL="1384300" indent="-228600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1384300" algn="l"/>
              </a:tabLst>
            </a:pPr>
            <a:r>
              <a:rPr dirty="0" sz="1400">
                <a:latin typeface="Times New Roman"/>
                <a:cs typeface="Times New Roman"/>
              </a:rPr>
              <a:t>SIEM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QRadar</a:t>
            </a:r>
            <a:endParaRPr sz="1400">
              <a:latin typeface="Times New Roman"/>
              <a:cs typeface="Times New Roman"/>
            </a:endParaRPr>
          </a:p>
          <a:p>
            <a:pPr lvl="1" marL="1384300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1384300" algn="l"/>
              </a:tabLst>
            </a:pP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Intelligence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(MISP)</a:t>
            </a:r>
            <a:endParaRPr sz="1400">
              <a:latin typeface="Times New Roman"/>
              <a:cs typeface="Times New Roman"/>
            </a:endParaRPr>
          </a:p>
          <a:p>
            <a:pPr lvl="1" marL="1384300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1384300" algn="l"/>
              </a:tabLst>
            </a:pPr>
            <a:r>
              <a:rPr dirty="0" sz="1400">
                <a:latin typeface="Times New Roman"/>
                <a:cs typeface="Times New Roman"/>
              </a:rPr>
              <a:t>Incident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Response</a:t>
            </a:r>
            <a:endParaRPr sz="1400">
              <a:latin typeface="Times New Roman"/>
              <a:cs typeface="Times New Roman"/>
            </a:endParaRPr>
          </a:p>
          <a:p>
            <a:pPr lvl="1" marL="1384300" indent="-228600">
              <a:lnSpc>
                <a:spcPct val="100000"/>
              </a:lnSpc>
              <a:spcBef>
                <a:spcPts val="285"/>
              </a:spcBef>
              <a:buFont typeface="Symbol"/>
              <a:buChar char=""/>
              <a:tabLst>
                <a:tab pos="1384300" algn="l"/>
              </a:tabLst>
            </a:pP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(ZTNA)</a:t>
            </a:r>
            <a:endParaRPr sz="1400">
              <a:latin typeface="Times New Roman"/>
              <a:cs typeface="Times New Roman"/>
            </a:endParaRPr>
          </a:p>
          <a:p>
            <a:pPr lvl="1" marL="1384300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1384300" algn="l"/>
              </a:tabLst>
            </a:pP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(ZPA)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4493513"/>
            <a:ext cx="3470275" cy="1411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80670" indent="-267970">
              <a:lnSpc>
                <a:spcPct val="100000"/>
              </a:lnSpc>
              <a:spcBef>
                <a:spcPts val="90"/>
              </a:spcBef>
              <a:buAutoNum type="arabicPeriod" startAt="12"/>
              <a:tabLst>
                <a:tab pos="280670" algn="l"/>
              </a:tabLst>
            </a:pPr>
            <a:r>
              <a:rPr dirty="0" sz="1400" b="1">
                <a:latin typeface="Times New Roman"/>
                <a:cs typeface="Times New Roman"/>
              </a:rPr>
              <a:t>Tools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Explored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Times New Roman"/>
              <a:buAutoNum type="arabicPeriod" startAt="12"/>
            </a:pPr>
            <a:endParaRPr sz="1400">
              <a:latin typeface="Times New Roman"/>
              <a:cs typeface="Times New Roman"/>
            </a:endParaRPr>
          </a:p>
          <a:p>
            <a:pPr lvl="1" marL="1840230" indent="-227329">
              <a:lnSpc>
                <a:spcPct val="100000"/>
              </a:lnSpc>
              <a:buFont typeface="Courier New"/>
              <a:buChar char="o"/>
              <a:tabLst>
                <a:tab pos="1840230" algn="l"/>
              </a:tabLst>
            </a:pPr>
            <a:r>
              <a:rPr dirty="0" sz="1400" spc="-10">
                <a:latin typeface="Times New Roman"/>
                <a:cs typeface="Times New Roman"/>
              </a:rPr>
              <a:t>Nessus</a:t>
            </a:r>
            <a:endParaRPr sz="1400">
              <a:latin typeface="Times New Roman"/>
              <a:cs typeface="Times New Roman"/>
            </a:endParaRPr>
          </a:p>
          <a:p>
            <a:pPr lvl="1" marL="1840230" indent="-227329">
              <a:lnSpc>
                <a:spcPct val="100000"/>
              </a:lnSpc>
              <a:spcBef>
                <a:spcPts val="190"/>
              </a:spcBef>
              <a:buFont typeface="Courier New"/>
              <a:buChar char="o"/>
              <a:tabLst>
                <a:tab pos="1840230" algn="l"/>
              </a:tabLst>
            </a:pPr>
            <a:r>
              <a:rPr dirty="0" sz="1400">
                <a:latin typeface="Times New Roman"/>
                <a:cs typeface="Times New Roman"/>
              </a:rPr>
              <a:t>IBM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QRadar</a:t>
            </a:r>
            <a:endParaRPr sz="1400">
              <a:latin typeface="Times New Roman"/>
              <a:cs typeface="Times New Roman"/>
            </a:endParaRPr>
          </a:p>
          <a:p>
            <a:pPr lvl="1" marL="1840230" indent="-227329">
              <a:lnSpc>
                <a:spcPct val="100000"/>
              </a:lnSpc>
              <a:spcBef>
                <a:spcPts val="170"/>
              </a:spcBef>
              <a:buFont typeface="Courier New"/>
              <a:buChar char="o"/>
              <a:tabLst>
                <a:tab pos="1840230" algn="l"/>
              </a:tabLst>
            </a:pPr>
            <a:r>
              <a:rPr dirty="0" sz="1400" spc="-20">
                <a:latin typeface="Times New Roman"/>
                <a:cs typeface="Times New Roman"/>
              </a:rPr>
              <a:t>MISP</a:t>
            </a:r>
            <a:endParaRPr sz="1400">
              <a:latin typeface="Times New Roman"/>
              <a:cs typeface="Times New Roman"/>
            </a:endParaRPr>
          </a:p>
          <a:p>
            <a:pPr lvl="1" marL="1840230" indent="-227329">
              <a:lnSpc>
                <a:spcPct val="100000"/>
              </a:lnSpc>
              <a:spcBef>
                <a:spcPts val="170"/>
              </a:spcBef>
              <a:buFont typeface="Courier New"/>
              <a:buChar char="o"/>
              <a:tabLst>
                <a:tab pos="1840230" algn="l"/>
              </a:tabLst>
            </a:pP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SKI</dc:creator>
  <dcterms:created xsi:type="dcterms:W3CDTF">2026-03-08T05:56:01Z</dcterms:created>
  <dcterms:modified xsi:type="dcterms:W3CDTF">2026-03-08T05:56:01Z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2026-03-08T00:00:00Z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2026-03-08T00:00:00Z</vt:filetime>
  </property>
  <property fmtid="{D5CDD505-2E9C-101B-9397-08002B2CF9AE}" pid="5" name="Producer">
    <vt:lpwstr>www.ilovepdf.com</vt:lpwstr>
  </property>
</Properties>
</file>